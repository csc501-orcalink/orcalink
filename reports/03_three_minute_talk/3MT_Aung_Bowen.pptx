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4" r:id="rId3"/>
  </p:sldMasterIdLst>
  <p:notesMasterIdLst>
    <p:notesMasterId r:id="rId4"/>
  </p:notesMasterIdLst>
  <p:sldIdLst>
    <p:sldId id="256" r:id="rId5"/>
  </p:sldIdLst>
  <p:sldSz cy="8572500" cx="15240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 name="Google Shape;28;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Our project, OrcaLink, asks how we can connect records about Southern Resident killer whales to explore their potential social ties. These whales have family relationships, but records of their families and records of sightings describe different things.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Our goal is to bring those records together while keeping the evidence behind each connection clear. This could help researchers examine family relationships alongside repeated sightings, and trace a connection back to the records supporting it.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Whale recording has developed from handwritten logs and film photographs to digital identification and databases. Our review compares sources by what they represent. The Center for Whale Research describes individual identities and family groups. The Dryad dataset links whale records to sightings. The Whale Museum records reported groups, dates, and locations.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Each source is useful, but their level of detail differs. A group report might name a pod without identifying every whale. Some individual identifiers in the Dryad data come from group reports. So an identifier alone does not always mean someone individually confirmed that whale.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There is another distinction: two whales recorded together are not necessarily close social partners. Our modeling challenge is to connect family and sighting records without losing these differences or overstating what the evidence shows.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In the diagram, whales connect to their maternal family groups, called matrilines. Kinship assertions record relationships between whales. Sightings connect to individual observations and group observations separately. This lets us keep a report even when the individual whales are unknown.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Associations represent recorded co-sightings or potential connections. Their type, method, and time window help distinguish the results. Source information preserves where the observations and relationship evidence came from.</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We plan to develop this conceptual model into a relational database, then a knowledge graph. The graph will represent whales and records as connected nodes with labeled relationships. We aim to query family connections, repeated co-sightings, and indirect connections while checking their supporting evidence.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OrcaLink is still a proposed model. A potential connection would be a candidate for further investigation, not proof of friendship. The aim is to make the records easier to connect and the meaning of each connection easier to examine.</a:t>
            </a:r>
            <a:endParaRPr/>
          </a:p>
        </p:txBody>
      </p:sp>
      <p:sp>
        <p:nvSpPr>
          <p:cNvPr id="29" name="Google Shape;29;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
          <p:cNvSpPr txBox="1"/>
          <p:nvPr>
            <p:ph type="title"/>
          </p:nvPr>
        </p:nvSpPr>
        <p:spPr>
          <a:xfrm>
            <a:off x="1524000" y="3238500"/>
            <a:ext cx="12192000" cy="1238250"/>
          </a:xfrm>
          <a:prstGeom prst="rect">
            <a:avLst/>
          </a:prstGeom>
          <a:noFill/>
          <a:ln>
            <a:noFill/>
          </a:ln>
        </p:spPr>
        <p:txBody>
          <a:bodyPr anchorCtr="0" anchor="ctr"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13" name="Google Shape;13;p3"/>
          <p:cNvSpPr txBox="1"/>
          <p:nvPr>
            <p:ph idx="1" type="subTitle"/>
          </p:nvPr>
        </p:nvSpPr>
        <p:spPr>
          <a:xfrm>
            <a:off x="2286000" y="4714875"/>
            <a:ext cx="10668000" cy="952500"/>
          </a:xfrm>
          <a:prstGeom prst="rect">
            <a:avLst/>
          </a:prstGeom>
          <a:noFill/>
          <a:ln>
            <a:noFill/>
          </a:ln>
        </p:spPr>
        <p:txBody>
          <a:bodyPr anchorCtr="0" anchor="ctr" bIns="0" lIns="0" spcFirstLastPara="1" rIns="0" wrap="square" tIns="0">
            <a:normAutofit/>
          </a:bodyPr>
          <a:lstStyle>
            <a:lvl1pPr lvl="0" marR="0" rtl="0" algn="l">
              <a:lnSpc>
                <a:spcPct val="11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1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lvl="2" marR="0" rtl="0" algn="l">
              <a:lnSpc>
                <a:spcPct val="110000"/>
              </a:lnSpc>
              <a:spcBef>
                <a:spcPts val="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lvl="3"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4" name="Shape 14"/>
        <p:cNvGrpSpPr/>
        <p:nvPr/>
      </p:nvGrpSpPr>
      <p:grpSpPr>
        <a:xfrm>
          <a:off x="0" y="0"/>
          <a:ext cx="0" cy="0"/>
          <a:chOff x="0" y="0"/>
          <a:chExt cx="0" cy="0"/>
        </a:xfrm>
      </p:grpSpPr>
      <p:sp>
        <p:nvSpPr>
          <p:cNvPr id="15" name="Google Shape;15;p4"/>
          <p:cNvSpPr txBox="1"/>
          <p:nvPr>
            <p:ph type="title"/>
          </p:nvPr>
        </p:nvSpPr>
        <p:spPr>
          <a:xfrm>
            <a:off x="1524000" y="3571875"/>
            <a:ext cx="12192000" cy="1428750"/>
          </a:xfrm>
          <a:prstGeom prst="rect">
            <a:avLst/>
          </a:prstGeom>
          <a:noFill/>
          <a:ln>
            <a:noFill/>
          </a:ln>
        </p:spPr>
        <p:txBody>
          <a:bodyPr anchorCtr="0" anchor="ctr"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16" name="Shape 16"/>
        <p:cNvGrpSpPr/>
        <p:nvPr/>
      </p:nvGrpSpPr>
      <p:grpSpPr>
        <a:xfrm>
          <a:off x="0" y="0"/>
          <a:ext cx="0" cy="0"/>
          <a:chOff x="0" y="0"/>
          <a:chExt cx="0" cy="0"/>
        </a:xfrm>
      </p:grpSpPr>
      <p:sp>
        <p:nvSpPr>
          <p:cNvPr id="17" name="Google Shape;17;p5"/>
          <p:cNvSpPr txBox="1"/>
          <p:nvPr>
            <p:ph type="title"/>
          </p:nvPr>
        </p:nvSpPr>
        <p:spPr>
          <a:xfrm>
            <a:off x="857250" y="666750"/>
            <a:ext cx="13525500" cy="104775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18" name="Google Shape;18;p5"/>
          <p:cNvSpPr txBox="1"/>
          <p:nvPr>
            <p:ph idx="1" type="body"/>
          </p:nvPr>
        </p:nvSpPr>
        <p:spPr>
          <a:xfrm>
            <a:off x="857250" y="2381250"/>
            <a:ext cx="13525500" cy="53340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1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1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1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1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1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1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1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1500"/>
              </a:spcBef>
              <a:spcAft>
                <a:spcPts val="15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
  <p:cSld name="Title and Two Column">
    <p:spTree>
      <p:nvGrpSpPr>
        <p:cNvPr id="19" name="Shape 19"/>
        <p:cNvGrpSpPr/>
        <p:nvPr/>
      </p:nvGrpSpPr>
      <p:grpSpPr>
        <a:xfrm>
          <a:off x="0" y="0"/>
          <a:ext cx="0" cy="0"/>
          <a:chOff x="0" y="0"/>
          <a:chExt cx="0" cy="0"/>
        </a:xfrm>
      </p:grpSpPr>
      <p:sp>
        <p:nvSpPr>
          <p:cNvPr id="20" name="Google Shape;20;p6"/>
          <p:cNvSpPr txBox="1"/>
          <p:nvPr>
            <p:ph type="title"/>
          </p:nvPr>
        </p:nvSpPr>
        <p:spPr>
          <a:xfrm>
            <a:off x="857250" y="666750"/>
            <a:ext cx="13525500" cy="104775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21" name="Google Shape;21;p6"/>
          <p:cNvSpPr txBox="1"/>
          <p:nvPr>
            <p:ph idx="1" type="body"/>
          </p:nvPr>
        </p:nvSpPr>
        <p:spPr>
          <a:xfrm>
            <a:off x="857250" y="2381250"/>
            <a:ext cx="6286500" cy="53340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1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1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1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1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1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1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1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1500"/>
              </a:spcBef>
              <a:spcAft>
                <a:spcPts val="15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2" name="Google Shape;22;p6"/>
          <p:cNvSpPr txBox="1"/>
          <p:nvPr>
            <p:ph idx="2" type="body"/>
          </p:nvPr>
        </p:nvSpPr>
        <p:spPr>
          <a:xfrm>
            <a:off x="8096250" y="2381250"/>
            <a:ext cx="6286500" cy="53340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1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1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1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1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1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1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1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1500"/>
              </a:spcBef>
              <a:spcAft>
                <a:spcPts val="15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p:cSld name="Title and One Column">
    <p:spTree>
      <p:nvGrpSpPr>
        <p:cNvPr id="23" name="Shape 23"/>
        <p:cNvGrpSpPr/>
        <p:nvPr/>
      </p:nvGrpSpPr>
      <p:grpSpPr>
        <a:xfrm>
          <a:off x="0" y="0"/>
          <a:ext cx="0" cy="0"/>
          <a:chOff x="0" y="0"/>
          <a:chExt cx="0" cy="0"/>
        </a:xfrm>
      </p:grpSpPr>
      <p:sp>
        <p:nvSpPr>
          <p:cNvPr id="24" name="Google Shape;24;p7"/>
          <p:cNvSpPr txBox="1"/>
          <p:nvPr>
            <p:ph type="title"/>
          </p:nvPr>
        </p:nvSpPr>
        <p:spPr>
          <a:xfrm>
            <a:off x="857250" y="666750"/>
            <a:ext cx="13525500" cy="104775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25" name="Google Shape;25;p7"/>
          <p:cNvSpPr txBox="1"/>
          <p:nvPr>
            <p:ph idx="1" type="body"/>
          </p:nvPr>
        </p:nvSpPr>
        <p:spPr>
          <a:xfrm>
            <a:off x="857250" y="2381250"/>
            <a:ext cx="6286500" cy="53340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1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1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1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1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1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1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1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1500"/>
              </a:spcBef>
              <a:spcAft>
                <a:spcPts val="15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 name="Shape 30"/>
        <p:cNvGrpSpPr/>
        <p:nvPr/>
      </p:nvGrpSpPr>
      <p:grpSpPr>
        <a:xfrm>
          <a:off x="0" y="0"/>
          <a:ext cx="0" cy="0"/>
          <a:chOff x="0" y="0"/>
          <a:chExt cx="0" cy="0"/>
        </a:xfrm>
      </p:grpSpPr>
      <p:cxnSp>
        <p:nvCxnSpPr>
          <p:cNvPr id="31" name="Google Shape;31;p8"/>
          <p:cNvCxnSpPr>
            <a:stCxn id="32" idx="3"/>
            <a:endCxn id="33" idx="2"/>
          </p:cNvCxnSpPr>
          <p:nvPr/>
        </p:nvCxnSpPr>
        <p:spPr>
          <a:xfrm flipH="1" rot="10800000">
            <a:off x="8572500" y="5429288"/>
            <a:ext cx="1428900" cy="1214400"/>
          </a:xfrm>
          <a:prstGeom prst="bentConnector4">
            <a:avLst>
              <a:gd fmla="val 15998" name="adj1"/>
              <a:gd fmla="val 81178" name="adj2"/>
            </a:avLst>
          </a:prstGeom>
          <a:noFill/>
          <a:ln cap="flat" cmpd="sng" w="19050">
            <a:solidFill>
              <a:srgbClr val="526978"/>
            </a:solidFill>
            <a:prstDash val="solid"/>
            <a:round/>
            <a:headEnd len="sm" w="sm" type="none"/>
            <a:tailEnd len="sm" w="sm" type="none"/>
          </a:ln>
        </p:spPr>
      </p:cxnSp>
      <p:cxnSp>
        <p:nvCxnSpPr>
          <p:cNvPr id="34" name="Google Shape;34;p8"/>
          <p:cNvCxnSpPr>
            <a:stCxn id="32" idx="1"/>
            <a:endCxn id="35" idx="3"/>
          </p:cNvCxnSpPr>
          <p:nvPr/>
        </p:nvCxnSpPr>
        <p:spPr>
          <a:xfrm rot="10800000">
            <a:off x="5857800" y="6643688"/>
            <a:ext cx="1000200" cy="0"/>
          </a:xfrm>
          <a:prstGeom prst="straightConnector1">
            <a:avLst/>
          </a:prstGeom>
          <a:noFill/>
          <a:ln cap="flat" cmpd="sng" w="19050">
            <a:solidFill>
              <a:srgbClr val="526978"/>
            </a:solidFill>
            <a:prstDash val="solid"/>
            <a:round/>
            <a:headEnd len="sm" w="sm" type="none"/>
            <a:tailEnd len="sm" w="sm" type="none"/>
          </a:ln>
        </p:spPr>
      </p:cxnSp>
      <p:cxnSp>
        <p:nvCxnSpPr>
          <p:cNvPr id="36" name="Google Shape;36;p8"/>
          <p:cNvCxnSpPr>
            <a:stCxn id="32" idx="0"/>
            <a:endCxn id="37" idx="2"/>
          </p:cNvCxnSpPr>
          <p:nvPr/>
        </p:nvCxnSpPr>
        <p:spPr>
          <a:xfrm rot="10800000">
            <a:off x="7715250" y="5429400"/>
            <a:ext cx="0" cy="857100"/>
          </a:xfrm>
          <a:prstGeom prst="straightConnector1">
            <a:avLst/>
          </a:prstGeom>
          <a:noFill/>
          <a:ln cap="flat" cmpd="sng" w="19050">
            <a:solidFill>
              <a:srgbClr val="526978"/>
            </a:solidFill>
            <a:prstDash val="solid"/>
            <a:round/>
            <a:headEnd len="sm" w="sm" type="none"/>
            <a:tailEnd len="sm" w="sm" type="none"/>
          </a:ln>
        </p:spPr>
      </p:cxnSp>
      <p:cxnSp>
        <p:nvCxnSpPr>
          <p:cNvPr id="38" name="Google Shape;38;p8"/>
          <p:cNvCxnSpPr>
            <a:stCxn id="37" idx="3"/>
            <a:endCxn id="33" idx="1"/>
          </p:cNvCxnSpPr>
          <p:nvPr/>
        </p:nvCxnSpPr>
        <p:spPr>
          <a:xfrm>
            <a:off x="8572500" y="5072063"/>
            <a:ext cx="619200" cy="600"/>
          </a:xfrm>
          <a:prstGeom prst="bentConnector3">
            <a:avLst>
              <a:gd fmla="val 49994" name="adj1"/>
            </a:avLst>
          </a:prstGeom>
          <a:noFill/>
          <a:ln cap="flat" cmpd="sng" w="19050">
            <a:solidFill>
              <a:srgbClr val="526978"/>
            </a:solidFill>
            <a:prstDash val="solid"/>
            <a:round/>
            <a:headEnd len="sm" w="sm" type="none"/>
            <a:tailEnd len="sm" w="sm" type="none"/>
          </a:ln>
        </p:spPr>
      </p:cxnSp>
      <p:cxnSp>
        <p:nvCxnSpPr>
          <p:cNvPr id="39" name="Google Shape;39;p8"/>
          <p:cNvCxnSpPr>
            <a:stCxn id="40" idx="2"/>
            <a:endCxn id="35" idx="0"/>
          </p:cNvCxnSpPr>
          <p:nvPr/>
        </p:nvCxnSpPr>
        <p:spPr>
          <a:xfrm>
            <a:off x="5024400" y="5373009"/>
            <a:ext cx="0" cy="913500"/>
          </a:xfrm>
          <a:prstGeom prst="straightConnector1">
            <a:avLst/>
          </a:prstGeom>
          <a:noFill/>
          <a:ln cap="flat" cmpd="sng" w="19050">
            <a:solidFill>
              <a:srgbClr val="526978"/>
            </a:solidFill>
            <a:prstDash val="solid"/>
            <a:round/>
            <a:headEnd len="sm" w="sm" type="none"/>
            <a:tailEnd len="sm" w="sm" type="none"/>
          </a:ln>
        </p:spPr>
      </p:cxnSp>
      <p:cxnSp>
        <p:nvCxnSpPr>
          <p:cNvPr id="41" name="Google Shape;41;p8"/>
          <p:cNvCxnSpPr>
            <a:stCxn id="37" idx="0"/>
            <a:endCxn id="42" idx="2"/>
          </p:cNvCxnSpPr>
          <p:nvPr/>
        </p:nvCxnSpPr>
        <p:spPr>
          <a:xfrm rot="10800000">
            <a:off x="7715250" y="3733875"/>
            <a:ext cx="0" cy="981000"/>
          </a:xfrm>
          <a:prstGeom prst="straightConnector1">
            <a:avLst/>
          </a:prstGeom>
          <a:noFill/>
          <a:ln cap="flat" cmpd="sng" w="19050">
            <a:solidFill>
              <a:srgbClr val="526978"/>
            </a:solidFill>
            <a:prstDash val="solid"/>
            <a:round/>
            <a:headEnd len="sm" w="sm" type="none"/>
            <a:tailEnd len="sm" w="sm" type="none"/>
          </a:ln>
        </p:spPr>
      </p:cxnSp>
      <p:cxnSp>
        <p:nvCxnSpPr>
          <p:cNvPr id="43" name="Google Shape;43;p8"/>
          <p:cNvCxnSpPr>
            <a:stCxn id="40" idx="3"/>
            <a:endCxn id="37" idx="1"/>
          </p:cNvCxnSpPr>
          <p:nvPr/>
        </p:nvCxnSpPr>
        <p:spPr>
          <a:xfrm flipH="1" rot="10800000">
            <a:off x="5857800" y="5071959"/>
            <a:ext cx="1000200" cy="5700"/>
          </a:xfrm>
          <a:prstGeom prst="straightConnector1">
            <a:avLst/>
          </a:prstGeom>
          <a:noFill/>
          <a:ln cap="flat" cmpd="sng" w="19050">
            <a:solidFill>
              <a:srgbClr val="526978"/>
            </a:solidFill>
            <a:prstDash val="solid"/>
            <a:round/>
            <a:headEnd len="sm" w="sm" type="none"/>
            <a:tailEnd len="sm" w="sm" type="none"/>
          </a:ln>
        </p:spPr>
      </p:cxnSp>
      <p:cxnSp>
        <p:nvCxnSpPr>
          <p:cNvPr id="44" name="Google Shape;44;p8"/>
          <p:cNvCxnSpPr>
            <a:stCxn id="42" idx="3"/>
            <a:endCxn id="45" idx="1"/>
          </p:cNvCxnSpPr>
          <p:nvPr/>
        </p:nvCxnSpPr>
        <p:spPr>
          <a:xfrm flipH="1" rot="10800000">
            <a:off x="8477250" y="3434625"/>
            <a:ext cx="714300" cy="3900"/>
          </a:xfrm>
          <a:prstGeom prst="straightConnector1">
            <a:avLst/>
          </a:prstGeom>
          <a:noFill/>
          <a:ln cap="flat" cmpd="sng" w="19050">
            <a:solidFill>
              <a:srgbClr val="526978"/>
            </a:solidFill>
            <a:prstDash val="solid"/>
            <a:round/>
            <a:headEnd len="sm" w="sm" type="none"/>
            <a:tailEnd len="sm" w="sm" type="none"/>
          </a:ln>
        </p:spPr>
      </p:cxnSp>
      <p:cxnSp>
        <p:nvCxnSpPr>
          <p:cNvPr id="46" name="Google Shape;46;p8"/>
          <p:cNvCxnSpPr>
            <a:stCxn id="47" idx="3"/>
            <a:endCxn id="42" idx="1"/>
          </p:cNvCxnSpPr>
          <p:nvPr/>
        </p:nvCxnSpPr>
        <p:spPr>
          <a:xfrm>
            <a:off x="5857875" y="3438525"/>
            <a:ext cx="1095300" cy="0"/>
          </a:xfrm>
          <a:prstGeom prst="straightConnector1">
            <a:avLst/>
          </a:prstGeom>
          <a:noFill/>
          <a:ln cap="flat" cmpd="sng" w="19050">
            <a:solidFill>
              <a:srgbClr val="526978"/>
            </a:solidFill>
            <a:prstDash val="solid"/>
            <a:round/>
            <a:headEnd len="sm" w="sm" type="none"/>
            <a:tailEnd len="sm" w="sm" type="none"/>
          </a:ln>
        </p:spPr>
      </p:cxnSp>
      <p:sp>
        <p:nvSpPr>
          <p:cNvPr id="48" name="Google Shape;48;p8"/>
          <p:cNvSpPr/>
          <p:nvPr/>
        </p:nvSpPr>
        <p:spPr>
          <a:xfrm>
            <a:off x="476250" y="266700"/>
            <a:ext cx="6667500" cy="590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750">
                <a:solidFill>
                  <a:srgbClr val="102C46"/>
                </a:solidFill>
                <a:latin typeface="Verdana"/>
                <a:ea typeface="Verdana"/>
                <a:cs typeface="Verdana"/>
                <a:sym typeface="Verdana"/>
              </a:rPr>
              <a:t>OrcaLink</a:t>
            </a:r>
            <a:endParaRPr/>
          </a:p>
        </p:txBody>
      </p:sp>
      <p:sp>
        <p:nvSpPr>
          <p:cNvPr id="49" name="Google Shape;49;p8"/>
          <p:cNvSpPr/>
          <p:nvPr/>
        </p:nvSpPr>
        <p:spPr>
          <a:xfrm>
            <a:off x="476250" y="914400"/>
            <a:ext cx="1428750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75">
                <a:solidFill>
                  <a:srgbClr val="102C46"/>
                </a:solidFill>
                <a:latin typeface="Verdana"/>
                <a:ea typeface="Verdana"/>
                <a:cs typeface="Verdana"/>
                <a:sym typeface="Verdana"/>
              </a:rPr>
              <a:t>Modeling Potential Social Ties in Southern Resident Killer Whales</a:t>
            </a:r>
            <a:endParaRPr/>
          </a:p>
        </p:txBody>
      </p:sp>
      <p:sp>
        <p:nvSpPr>
          <p:cNvPr id="50" name="Google Shape;50;p8"/>
          <p:cNvSpPr/>
          <p:nvPr/>
        </p:nvSpPr>
        <p:spPr>
          <a:xfrm>
            <a:off x="476250" y="1352550"/>
            <a:ext cx="1428750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465B6C"/>
                </a:solidFill>
                <a:latin typeface="Verdana"/>
                <a:ea typeface="Verdana"/>
                <a:cs typeface="Verdana"/>
                <a:sym typeface="Verdana"/>
              </a:rPr>
              <a:t>Aung Htut and Bowen Zhang</a:t>
            </a:r>
            <a:endParaRPr/>
          </a:p>
        </p:txBody>
      </p:sp>
      <p:sp>
        <p:nvSpPr>
          <p:cNvPr id="51" name="Google Shape;51;p8"/>
          <p:cNvSpPr/>
          <p:nvPr/>
        </p:nvSpPr>
        <p:spPr>
          <a:xfrm>
            <a:off x="476250" y="1790700"/>
            <a:ext cx="142875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247B73"/>
                </a:solidFill>
                <a:latin typeface="Verdana"/>
                <a:ea typeface="Verdana"/>
                <a:cs typeface="Verdana"/>
                <a:sym typeface="Verdana"/>
              </a:rPr>
              <a:t>Connecting family records and sightings while preserving the evidence behind each connection</a:t>
            </a:r>
            <a:endParaRPr/>
          </a:p>
        </p:txBody>
      </p:sp>
      <p:sp>
        <p:nvSpPr>
          <p:cNvPr id="52" name="Google Shape;52;p8"/>
          <p:cNvSpPr/>
          <p:nvPr/>
        </p:nvSpPr>
        <p:spPr>
          <a:xfrm>
            <a:off x="476250" y="2476500"/>
            <a:ext cx="333375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25">
                <a:solidFill>
                  <a:srgbClr val="102C46"/>
                </a:solidFill>
                <a:latin typeface="Verdana"/>
                <a:ea typeface="Verdana"/>
                <a:cs typeface="Verdana"/>
                <a:sym typeface="Verdana"/>
              </a:rPr>
              <a:t>Existing sources</a:t>
            </a:r>
            <a:endParaRPr/>
          </a:p>
        </p:txBody>
      </p:sp>
      <p:sp>
        <p:nvSpPr>
          <p:cNvPr id="53" name="Google Shape;53;p8"/>
          <p:cNvSpPr/>
          <p:nvPr/>
        </p:nvSpPr>
        <p:spPr>
          <a:xfrm>
            <a:off x="476250" y="3028950"/>
            <a:ext cx="32385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247B73"/>
                </a:solidFill>
                <a:latin typeface="Verdana"/>
                <a:ea typeface="Verdana"/>
                <a:cs typeface="Verdana"/>
                <a:sym typeface="Verdana"/>
              </a:rPr>
              <a:t>CWR [1]</a:t>
            </a:r>
            <a:endParaRPr/>
          </a:p>
        </p:txBody>
      </p:sp>
      <p:sp>
        <p:nvSpPr>
          <p:cNvPr id="54" name="Google Shape;54;p8"/>
          <p:cNvSpPr/>
          <p:nvPr/>
        </p:nvSpPr>
        <p:spPr>
          <a:xfrm>
            <a:off x="476250" y="3362325"/>
            <a:ext cx="3238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725">
                <a:solidFill>
                  <a:srgbClr val="102C46"/>
                </a:solidFill>
                <a:latin typeface="Verdana"/>
                <a:ea typeface="Verdana"/>
                <a:cs typeface="Verdana"/>
                <a:sym typeface="Verdana"/>
              </a:rPr>
              <a:t>Individual identity and family</a:t>
            </a:r>
            <a:endParaRPr/>
          </a:p>
        </p:txBody>
      </p:sp>
      <p:sp>
        <p:nvSpPr>
          <p:cNvPr id="55" name="Google Shape;55;p8"/>
          <p:cNvSpPr/>
          <p:nvPr/>
        </p:nvSpPr>
        <p:spPr>
          <a:xfrm>
            <a:off x="476250" y="4038600"/>
            <a:ext cx="32385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247B73"/>
                </a:solidFill>
                <a:latin typeface="Verdana"/>
                <a:ea typeface="Verdana"/>
                <a:cs typeface="Verdana"/>
                <a:sym typeface="Verdana"/>
              </a:rPr>
              <a:t>Dryad [2]</a:t>
            </a:r>
            <a:endParaRPr/>
          </a:p>
        </p:txBody>
      </p:sp>
      <p:sp>
        <p:nvSpPr>
          <p:cNvPr id="56" name="Google Shape;56;p8"/>
          <p:cNvSpPr/>
          <p:nvPr/>
        </p:nvSpPr>
        <p:spPr>
          <a:xfrm>
            <a:off x="476250" y="4371975"/>
            <a:ext cx="32385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725">
                <a:solidFill>
                  <a:srgbClr val="102C46"/>
                </a:solidFill>
                <a:latin typeface="Verdana"/>
                <a:ea typeface="Verdana"/>
                <a:cs typeface="Verdana"/>
                <a:sym typeface="Verdana"/>
              </a:rPr>
              <a:t>Whale records linked to sightings</a:t>
            </a:r>
            <a:endParaRPr/>
          </a:p>
        </p:txBody>
      </p:sp>
      <p:sp>
        <p:nvSpPr>
          <p:cNvPr id="57" name="Google Shape;57;p8"/>
          <p:cNvSpPr/>
          <p:nvPr/>
        </p:nvSpPr>
        <p:spPr>
          <a:xfrm>
            <a:off x="476250" y="5181600"/>
            <a:ext cx="32385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247B73"/>
                </a:solidFill>
                <a:latin typeface="Verdana"/>
                <a:ea typeface="Verdana"/>
                <a:cs typeface="Verdana"/>
                <a:sym typeface="Verdana"/>
              </a:rPr>
              <a:t>The Whale Museum [3]</a:t>
            </a:r>
            <a:endParaRPr/>
          </a:p>
        </p:txBody>
      </p:sp>
      <p:sp>
        <p:nvSpPr>
          <p:cNvPr id="58" name="Google Shape;58;p8"/>
          <p:cNvSpPr/>
          <p:nvPr/>
        </p:nvSpPr>
        <p:spPr>
          <a:xfrm>
            <a:off x="476250" y="5534025"/>
            <a:ext cx="32385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725">
                <a:solidFill>
                  <a:srgbClr val="102C46"/>
                </a:solidFill>
                <a:latin typeface="Verdana"/>
                <a:ea typeface="Verdana"/>
                <a:cs typeface="Verdana"/>
                <a:sym typeface="Verdana"/>
              </a:rPr>
              <a:t>Group reports across dates</a:t>
            </a:r>
            <a:endParaRPr/>
          </a:p>
          <a:p>
            <a:pPr indent="0" lvl="0" marL="0" marR="0" rtl="0" algn="l">
              <a:spcBef>
                <a:spcPts val="0"/>
              </a:spcBef>
              <a:spcAft>
                <a:spcPts val="0"/>
              </a:spcAft>
              <a:buNone/>
            </a:pPr>
            <a:r>
              <a:rPr b="0" lang="en-US" sz="1725">
                <a:solidFill>
                  <a:srgbClr val="102C46"/>
                </a:solidFill>
                <a:latin typeface="Verdana"/>
                <a:ea typeface="Verdana"/>
                <a:cs typeface="Verdana"/>
                <a:sym typeface="Verdana"/>
              </a:rPr>
              <a:t>and locations</a:t>
            </a:r>
            <a:endParaRPr/>
          </a:p>
        </p:txBody>
      </p:sp>
      <p:sp>
        <p:nvSpPr>
          <p:cNvPr id="59" name="Google Shape;59;p8"/>
          <p:cNvSpPr/>
          <p:nvPr/>
        </p:nvSpPr>
        <p:spPr>
          <a:xfrm>
            <a:off x="476250" y="6553200"/>
            <a:ext cx="3238500" cy="333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875">
                <a:solidFill>
                  <a:srgbClr val="102C46"/>
                </a:solidFill>
                <a:latin typeface="Verdana"/>
                <a:ea typeface="Verdana"/>
                <a:cs typeface="Verdana"/>
                <a:sym typeface="Verdana"/>
              </a:rPr>
              <a:t>The integration gap</a:t>
            </a:r>
            <a:endParaRPr/>
          </a:p>
        </p:txBody>
      </p:sp>
      <p:sp>
        <p:nvSpPr>
          <p:cNvPr id="60" name="Google Shape;60;p8"/>
          <p:cNvSpPr/>
          <p:nvPr/>
        </p:nvSpPr>
        <p:spPr>
          <a:xfrm>
            <a:off x="476250" y="6972300"/>
            <a:ext cx="3238500" cy="1000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725">
                <a:solidFill>
                  <a:srgbClr val="102C46"/>
                </a:solidFill>
                <a:latin typeface="Verdana"/>
                <a:ea typeface="Verdana"/>
                <a:cs typeface="Verdana"/>
                <a:sym typeface="Verdana"/>
              </a:rPr>
              <a:t>Sources differ in identification detail. Connecting them must retain that distinction.</a:t>
            </a:r>
            <a:endParaRPr/>
          </a:p>
        </p:txBody>
      </p:sp>
      <p:sp>
        <p:nvSpPr>
          <p:cNvPr id="61" name="Google Shape;61;p8"/>
          <p:cNvSpPr/>
          <p:nvPr/>
        </p:nvSpPr>
        <p:spPr>
          <a:xfrm>
            <a:off x="4191000" y="2476500"/>
            <a:ext cx="638175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25">
                <a:solidFill>
                  <a:srgbClr val="102C46"/>
                </a:solidFill>
                <a:latin typeface="Verdana"/>
                <a:ea typeface="Verdana"/>
                <a:cs typeface="Verdana"/>
                <a:sym typeface="Verdana"/>
              </a:rPr>
              <a:t>Proposed model</a:t>
            </a:r>
            <a:endParaRPr/>
          </a:p>
        </p:txBody>
      </p:sp>
      <p:sp>
        <p:nvSpPr>
          <p:cNvPr id="47" name="Google Shape;47;p8"/>
          <p:cNvSpPr/>
          <p:nvPr/>
        </p:nvSpPr>
        <p:spPr>
          <a:xfrm>
            <a:off x="4191000" y="3143250"/>
            <a:ext cx="1666875" cy="590550"/>
          </a:xfrm>
          <a:prstGeom prst="roundRect">
            <a:avLst>
              <a:gd fmla="val 12903" name="adj"/>
            </a:avLst>
          </a:prstGeom>
          <a:solidFill>
            <a:srgbClr val="DCEED5"/>
          </a:solidFill>
          <a:ln cap="flat" cmpd="sng" w="12375">
            <a:solidFill>
              <a:srgbClr val="9BAFBD"/>
            </a:solidFill>
            <a:prstDash val="solid"/>
            <a:round/>
            <a:headEnd len="sm" w="sm" type="none"/>
            <a:tailEnd len="sm" w="sm" type="none"/>
          </a:ln>
        </p:spPr>
        <p:txBody>
          <a:bodyPr anchorCtr="0" anchor="ctr" bIns="66675" lIns="66675" spcFirstLastPara="1" rIns="66675" wrap="square" tIns="66675">
            <a:noAutofit/>
          </a:bodyPr>
          <a:lstStyle/>
          <a:p>
            <a:pPr indent="0" lvl="0" marL="0" marR="0" rtl="0" algn="ctr">
              <a:spcBef>
                <a:spcPts val="0"/>
              </a:spcBef>
              <a:spcAft>
                <a:spcPts val="0"/>
              </a:spcAft>
              <a:buNone/>
            </a:pPr>
            <a:r>
              <a:rPr b="1" lang="en-US" sz="1575">
                <a:solidFill>
                  <a:srgbClr val="102C46"/>
                </a:solidFill>
                <a:latin typeface="Verdana"/>
                <a:ea typeface="Verdana"/>
                <a:cs typeface="Verdana"/>
                <a:sym typeface="Verdana"/>
              </a:rPr>
              <a:t>Matriline</a:t>
            </a:r>
            <a:endParaRPr/>
          </a:p>
        </p:txBody>
      </p:sp>
      <p:sp>
        <p:nvSpPr>
          <p:cNvPr id="42" name="Google Shape;42;p8"/>
          <p:cNvSpPr/>
          <p:nvPr/>
        </p:nvSpPr>
        <p:spPr>
          <a:xfrm>
            <a:off x="6953250" y="3143250"/>
            <a:ext cx="1524000" cy="590550"/>
          </a:xfrm>
          <a:prstGeom prst="roundRect">
            <a:avLst>
              <a:gd fmla="val 12903" name="adj"/>
            </a:avLst>
          </a:prstGeom>
          <a:solidFill>
            <a:srgbClr val="DCEED5"/>
          </a:solidFill>
          <a:ln cap="flat" cmpd="sng" w="12375">
            <a:solidFill>
              <a:srgbClr val="9BAFBD"/>
            </a:solidFill>
            <a:prstDash val="solid"/>
            <a:round/>
            <a:headEnd len="sm" w="sm" type="none"/>
            <a:tailEnd len="sm" w="sm" type="none"/>
          </a:ln>
        </p:spPr>
        <p:txBody>
          <a:bodyPr anchorCtr="0" anchor="ctr" bIns="66675" lIns="66675" spcFirstLastPara="1" rIns="66675" wrap="square" tIns="66675">
            <a:noAutofit/>
          </a:bodyPr>
          <a:lstStyle/>
          <a:p>
            <a:pPr indent="0" lvl="0" marL="0" marR="0" rtl="0" algn="ctr">
              <a:spcBef>
                <a:spcPts val="0"/>
              </a:spcBef>
              <a:spcAft>
                <a:spcPts val="0"/>
              </a:spcAft>
              <a:buNone/>
            </a:pPr>
            <a:r>
              <a:rPr b="1" lang="en-US" sz="1575">
                <a:solidFill>
                  <a:srgbClr val="102C46"/>
                </a:solidFill>
                <a:latin typeface="Verdana"/>
                <a:ea typeface="Verdana"/>
                <a:cs typeface="Verdana"/>
                <a:sym typeface="Verdana"/>
              </a:rPr>
              <a:t>Whale</a:t>
            </a:r>
            <a:endParaRPr/>
          </a:p>
        </p:txBody>
      </p:sp>
      <p:sp>
        <p:nvSpPr>
          <p:cNvPr id="45" name="Google Shape;45;p8"/>
          <p:cNvSpPr/>
          <p:nvPr/>
        </p:nvSpPr>
        <p:spPr>
          <a:xfrm>
            <a:off x="9191625" y="3101104"/>
            <a:ext cx="1619100" cy="666900"/>
          </a:xfrm>
          <a:prstGeom prst="roundRect">
            <a:avLst>
              <a:gd fmla="val 11429" name="adj"/>
            </a:avLst>
          </a:prstGeom>
          <a:solidFill>
            <a:srgbClr val="F5DDDB"/>
          </a:solidFill>
          <a:ln cap="flat" cmpd="sng" w="12375">
            <a:solidFill>
              <a:srgbClr val="9BAFBD"/>
            </a:solidFill>
            <a:prstDash val="solid"/>
            <a:round/>
            <a:headEnd len="sm" w="sm" type="none"/>
            <a:tailEnd len="sm" w="sm" type="none"/>
          </a:ln>
        </p:spPr>
        <p:txBody>
          <a:bodyPr anchorCtr="0" anchor="ctr" bIns="66675" lIns="66675" spcFirstLastPara="1" rIns="66675" wrap="square" tIns="66675">
            <a:noAutofit/>
          </a:bodyPr>
          <a:lstStyle/>
          <a:p>
            <a:pPr indent="0" lvl="0" marL="0" marR="0" rtl="0" algn="ctr">
              <a:spcBef>
                <a:spcPts val="0"/>
              </a:spcBef>
              <a:spcAft>
                <a:spcPts val="0"/>
              </a:spcAft>
              <a:buNone/>
            </a:pPr>
            <a:r>
              <a:rPr b="1" lang="en-US" sz="1575">
                <a:solidFill>
                  <a:srgbClr val="102C46"/>
                </a:solidFill>
                <a:latin typeface="Verdana"/>
                <a:ea typeface="Verdana"/>
                <a:cs typeface="Verdana"/>
                <a:sym typeface="Verdana"/>
              </a:rPr>
              <a:t>Kinship</a:t>
            </a:r>
            <a:endParaRPr/>
          </a:p>
          <a:p>
            <a:pPr indent="0" lvl="0" marL="0" marR="0" rtl="0" algn="ctr">
              <a:spcBef>
                <a:spcPts val="0"/>
              </a:spcBef>
              <a:spcAft>
                <a:spcPts val="0"/>
              </a:spcAft>
              <a:buNone/>
            </a:pPr>
            <a:r>
              <a:rPr b="1" lang="en-US" sz="1575">
                <a:solidFill>
                  <a:srgbClr val="102C46"/>
                </a:solidFill>
                <a:latin typeface="Verdana"/>
                <a:ea typeface="Verdana"/>
                <a:cs typeface="Verdana"/>
                <a:sym typeface="Verdana"/>
              </a:rPr>
              <a:t>Assertion</a:t>
            </a:r>
            <a:endParaRPr/>
          </a:p>
        </p:txBody>
      </p:sp>
      <p:sp>
        <p:nvSpPr>
          <p:cNvPr id="40" name="Google Shape;40;p8"/>
          <p:cNvSpPr/>
          <p:nvPr/>
        </p:nvSpPr>
        <p:spPr>
          <a:xfrm>
            <a:off x="4191000" y="4782309"/>
            <a:ext cx="1666800" cy="590700"/>
          </a:xfrm>
          <a:prstGeom prst="roundRect">
            <a:avLst>
              <a:gd fmla="val 12903" name="adj"/>
            </a:avLst>
          </a:prstGeom>
          <a:solidFill>
            <a:srgbClr val="D8EBF8"/>
          </a:solidFill>
          <a:ln cap="flat" cmpd="sng" w="12375">
            <a:solidFill>
              <a:srgbClr val="9BAFBD"/>
            </a:solidFill>
            <a:prstDash val="solid"/>
            <a:round/>
            <a:headEnd len="sm" w="sm" type="none"/>
            <a:tailEnd len="sm" w="sm" type="none"/>
          </a:ln>
        </p:spPr>
        <p:txBody>
          <a:bodyPr anchorCtr="0" anchor="ctr" bIns="66675" lIns="66675" spcFirstLastPara="1" rIns="66675" wrap="square" tIns="66675">
            <a:noAutofit/>
          </a:bodyPr>
          <a:lstStyle/>
          <a:p>
            <a:pPr indent="0" lvl="0" marL="0" marR="0" rtl="0" algn="ctr">
              <a:spcBef>
                <a:spcPts val="0"/>
              </a:spcBef>
              <a:spcAft>
                <a:spcPts val="0"/>
              </a:spcAft>
              <a:buNone/>
            </a:pPr>
            <a:r>
              <a:rPr b="1" lang="en-US" sz="1575">
                <a:solidFill>
                  <a:srgbClr val="102C46"/>
                </a:solidFill>
                <a:latin typeface="Verdana"/>
                <a:ea typeface="Verdana"/>
                <a:cs typeface="Verdana"/>
                <a:sym typeface="Verdana"/>
              </a:rPr>
              <a:t>Sighting</a:t>
            </a:r>
            <a:endParaRPr/>
          </a:p>
        </p:txBody>
      </p:sp>
      <p:sp>
        <p:nvSpPr>
          <p:cNvPr id="37" name="Google Shape;37;p8"/>
          <p:cNvSpPr/>
          <p:nvPr/>
        </p:nvSpPr>
        <p:spPr>
          <a:xfrm>
            <a:off x="6858000" y="4714875"/>
            <a:ext cx="1714500" cy="714375"/>
          </a:xfrm>
          <a:prstGeom prst="roundRect">
            <a:avLst>
              <a:gd fmla="val 10667" name="adj"/>
            </a:avLst>
          </a:prstGeom>
          <a:solidFill>
            <a:srgbClr val="D8EBF8"/>
          </a:solidFill>
          <a:ln cap="flat" cmpd="sng" w="12375">
            <a:solidFill>
              <a:srgbClr val="9BAFBD"/>
            </a:solidFill>
            <a:prstDash val="solid"/>
            <a:round/>
            <a:headEnd len="sm" w="sm" type="none"/>
            <a:tailEnd len="sm" w="sm" type="none"/>
          </a:ln>
        </p:spPr>
        <p:txBody>
          <a:bodyPr anchorCtr="0" anchor="ctr" bIns="66675" lIns="66675" spcFirstLastPara="1" rIns="66675" wrap="square" tIns="66675">
            <a:noAutofit/>
          </a:bodyPr>
          <a:lstStyle/>
          <a:p>
            <a:pPr indent="0" lvl="0" marL="0" marR="0" rtl="0" algn="ctr">
              <a:spcBef>
                <a:spcPts val="0"/>
              </a:spcBef>
              <a:spcAft>
                <a:spcPts val="0"/>
              </a:spcAft>
              <a:buNone/>
            </a:pPr>
            <a:r>
              <a:rPr b="1" lang="en-US" sz="1575">
                <a:solidFill>
                  <a:srgbClr val="102C46"/>
                </a:solidFill>
                <a:latin typeface="Verdana"/>
                <a:ea typeface="Verdana"/>
                <a:cs typeface="Verdana"/>
                <a:sym typeface="Verdana"/>
              </a:rPr>
              <a:t>Individual</a:t>
            </a:r>
            <a:endParaRPr/>
          </a:p>
          <a:p>
            <a:pPr indent="0" lvl="0" marL="0" marR="0" rtl="0" algn="ctr">
              <a:spcBef>
                <a:spcPts val="0"/>
              </a:spcBef>
              <a:spcAft>
                <a:spcPts val="0"/>
              </a:spcAft>
              <a:buNone/>
            </a:pPr>
            <a:r>
              <a:rPr b="1" lang="en-US" sz="1575">
                <a:solidFill>
                  <a:srgbClr val="102C46"/>
                </a:solidFill>
                <a:latin typeface="Verdana"/>
                <a:ea typeface="Verdana"/>
                <a:cs typeface="Verdana"/>
                <a:sym typeface="Verdana"/>
              </a:rPr>
              <a:t>Observation</a:t>
            </a:r>
            <a:endParaRPr/>
          </a:p>
        </p:txBody>
      </p:sp>
      <p:sp>
        <p:nvSpPr>
          <p:cNvPr id="33" name="Google Shape;33;p8"/>
          <p:cNvSpPr/>
          <p:nvPr/>
        </p:nvSpPr>
        <p:spPr>
          <a:xfrm>
            <a:off x="9191625" y="4714875"/>
            <a:ext cx="1619250" cy="714375"/>
          </a:xfrm>
          <a:prstGeom prst="roundRect">
            <a:avLst>
              <a:gd fmla="val 10667" name="adj"/>
            </a:avLst>
          </a:prstGeom>
          <a:solidFill>
            <a:srgbClr val="F9E5C6"/>
          </a:solidFill>
          <a:ln cap="flat" cmpd="sng" w="12375">
            <a:solidFill>
              <a:srgbClr val="9BAFBD"/>
            </a:solidFill>
            <a:prstDash val="solid"/>
            <a:round/>
            <a:headEnd len="sm" w="sm" type="none"/>
            <a:tailEnd len="sm" w="sm" type="none"/>
          </a:ln>
        </p:spPr>
        <p:txBody>
          <a:bodyPr anchorCtr="0" anchor="ctr" bIns="66675" lIns="66675" spcFirstLastPara="1" rIns="66675" wrap="square" tIns="66675">
            <a:noAutofit/>
          </a:bodyPr>
          <a:lstStyle/>
          <a:p>
            <a:pPr indent="0" lvl="0" marL="0" marR="0" rtl="0" algn="ctr">
              <a:spcBef>
                <a:spcPts val="0"/>
              </a:spcBef>
              <a:spcAft>
                <a:spcPts val="0"/>
              </a:spcAft>
              <a:buNone/>
            </a:pPr>
            <a:r>
              <a:rPr b="1" lang="en-US" sz="1575">
                <a:solidFill>
                  <a:srgbClr val="102C46"/>
                </a:solidFill>
                <a:latin typeface="Verdana"/>
                <a:ea typeface="Verdana"/>
                <a:cs typeface="Verdana"/>
                <a:sym typeface="Verdana"/>
              </a:rPr>
              <a:t>Association</a:t>
            </a:r>
            <a:endParaRPr/>
          </a:p>
        </p:txBody>
      </p:sp>
      <p:sp>
        <p:nvSpPr>
          <p:cNvPr id="35" name="Google Shape;35;p8"/>
          <p:cNvSpPr/>
          <p:nvPr/>
        </p:nvSpPr>
        <p:spPr>
          <a:xfrm>
            <a:off x="4191000" y="6286500"/>
            <a:ext cx="1666875" cy="714375"/>
          </a:xfrm>
          <a:prstGeom prst="roundRect">
            <a:avLst>
              <a:gd fmla="val 10667" name="adj"/>
            </a:avLst>
          </a:prstGeom>
          <a:solidFill>
            <a:srgbClr val="D8EBF8"/>
          </a:solidFill>
          <a:ln cap="flat" cmpd="sng" w="12375">
            <a:solidFill>
              <a:srgbClr val="9BAFBD"/>
            </a:solidFill>
            <a:prstDash val="solid"/>
            <a:round/>
            <a:headEnd len="sm" w="sm" type="none"/>
            <a:tailEnd len="sm" w="sm" type="none"/>
          </a:ln>
        </p:spPr>
        <p:txBody>
          <a:bodyPr anchorCtr="0" anchor="ctr" bIns="66675" lIns="66675" spcFirstLastPara="1" rIns="66675" wrap="square" tIns="66675">
            <a:noAutofit/>
          </a:bodyPr>
          <a:lstStyle/>
          <a:p>
            <a:pPr indent="0" lvl="0" marL="0" marR="0" rtl="0" algn="ctr">
              <a:spcBef>
                <a:spcPts val="0"/>
              </a:spcBef>
              <a:spcAft>
                <a:spcPts val="0"/>
              </a:spcAft>
              <a:buNone/>
            </a:pPr>
            <a:r>
              <a:rPr b="1" lang="en-US" sz="1575">
                <a:solidFill>
                  <a:srgbClr val="102C46"/>
                </a:solidFill>
                <a:latin typeface="Verdana"/>
                <a:ea typeface="Verdana"/>
                <a:cs typeface="Verdana"/>
                <a:sym typeface="Verdana"/>
              </a:rPr>
              <a:t>Group</a:t>
            </a:r>
            <a:endParaRPr/>
          </a:p>
          <a:p>
            <a:pPr indent="0" lvl="0" marL="0" marR="0" rtl="0" algn="ctr">
              <a:spcBef>
                <a:spcPts val="0"/>
              </a:spcBef>
              <a:spcAft>
                <a:spcPts val="0"/>
              </a:spcAft>
              <a:buNone/>
            </a:pPr>
            <a:r>
              <a:rPr b="1" lang="en-US" sz="1575">
                <a:solidFill>
                  <a:srgbClr val="102C46"/>
                </a:solidFill>
                <a:latin typeface="Verdana"/>
                <a:ea typeface="Verdana"/>
                <a:cs typeface="Verdana"/>
                <a:sym typeface="Verdana"/>
              </a:rPr>
              <a:t>Observation</a:t>
            </a:r>
            <a:endParaRPr/>
          </a:p>
        </p:txBody>
      </p:sp>
      <p:sp>
        <p:nvSpPr>
          <p:cNvPr id="32" name="Google Shape;32;p8"/>
          <p:cNvSpPr/>
          <p:nvPr/>
        </p:nvSpPr>
        <p:spPr>
          <a:xfrm>
            <a:off x="6858000" y="6286500"/>
            <a:ext cx="1714500" cy="714375"/>
          </a:xfrm>
          <a:prstGeom prst="roundRect">
            <a:avLst>
              <a:gd fmla="val 10667" name="adj"/>
            </a:avLst>
          </a:prstGeom>
          <a:solidFill>
            <a:srgbClr val="E7DFF2"/>
          </a:solidFill>
          <a:ln cap="flat" cmpd="sng" w="12375">
            <a:solidFill>
              <a:srgbClr val="9BAFBD"/>
            </a:solidFill>
            <a:prstDash val="solid"/>
            <a:round/>
            <a:headEnd len="sm" w="sm" type="none"/>
            <a:tailEnd len="sm" w="sm" type="none"/>
          </a:ln>
        </p:spPr>
        <p:txBody>
          <a:bodyPr anchorCtr="0" anchor="ctr" bIns="66675" lIns="66675" spcFirstLastPara="1" rIns="66675" wrap="square" tIns="66675">
            <a:noAutofit/>
          </a:bodyPr>
          <a:lstStyle/>
          <a:p>
            <a:pPr indent="0" lvl="0" marL="0" marR="0" rtl="0" algn="ctr">
              <a:spcBef>
                <a:spcPts val="0"/>
              </a:spcBef>
              <a:spcAft>
                <a:spcPts val="0"/>
              </a:spcAft>
              <a:buNone/>
            </a:pPr>
            <a:r>
              <a:rPr b="1" lang="en-US" sz="1575">
                <a:solidFill>
                  <a:srgbClr val="102C46"/>
                </a:solidFill>
                <a:latin typeface="Verdana"/>
                <a:ea typeface="Verdana"/>
                <a:cs typeface="Verdana"/>
                <a:sym typeface="Verdana"/>
              </a:rPr>
              <a:t>Data Source</a:t>
            </a:r>
            <a:endParaRPr/>
          </a:p>
        </p:txBody>
      </p:sp>
      <p:sp>
        <p:nvSpPr>
          <p:cNvPr id="62" name="Google Shape;62;p8"/>
          <p:cNvSpPr/>
          <p:nvPr/>
        </p:nvSpPr>
        <p:spPr>
          <a:xfrm>
            <a:off x="5943600" y="3038475"/>
            <a:ext cx="952500" cy="2571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50">
                <a:solidFill>
                  <a:srgbClr val="465B6C"/>
                </a:solidFill>
                <a:latin typeface="Verdana"/>
                <a:ea typeface="Verdana"/>
                <a:cs typeface="Verdana"/>
                <a:sym typeface="Verdana"/>
              </a:rPr>
              <a:t>includes</a:t>
            </a:r>
            <a:endParaRPr/>
          </a:p>
        </p:txBody>
      </p:sp>
      <p:sp>
        <p:nvSpPr>
          <p:cNvPr id="63" name="Google Shape;63;p8"/>
          <p:cNvSpPr/>
          <p:nvPr/>
        </p:nvSpPr>
        <p:spPr>
          <a:xfrm>
            <a:off x="8572500" y="2771775"/>
            <a:ext cx="2095500" cy="2571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lang="en-US" sz="1275">
                <a:solidFill>
                  <a:srgbClr val="465B6C"/>
                </a:solidFill>
                <a:latin typeface="Verdana"/>
                <a:ea typeface="Verdana"/>
                <a:cs typeface="Verdana"/>
                <a:sym typeface="Verdana"/>
              </a:rPr>
              <a:t>two whale roles</a:t>
            </a:r>
            <a:endParaRPr/>
          </a:p>
        </p:txBody>
      </p:sp>
      <p:sp>
        <p:nvSpPr>
          <p:cNvPr id="64" name="Google Shape;64;p8"/>
          <p:cNvSpPr/>
          <p:nvPr/>
        </p:nvSpPr>
        <p:spPr>
          <a:xfrm>
            <a:off x="6048375" y="4572000"/>
            <a:ext cx="619125" cy="266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lang="en-US" sz="1350">
                <a:solidFill>
                  <a:srgbClr val="465B6C"/>
                </a:solidFill>
                <a:latin typeface="Verdana"/>
                <a:ea typeface="Verdana"/>
                <a:cs typeface="Verdana"/>
                <a:sym typeface="Verdana"/>
              </a:rPr>
              <a:t>has</a:t>
            </a:r>
            <a:endParaRPr/>
          </a:p>
        </p:txBody>
      </p:sp>
      <p:sp>
        <p:nvSpPr>
          <p:cNvPr id="65" name="Google Shape;65;p8"/>
          <p:cNvSpPr/>
          <p:nvPr/>
        </p:nvSpPr>
        <p:spPr>
          <a:xfrm>
            <a:off x="7772400" y="3819525"/>
            <a:ext cx="1143000" cy="2571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50">
                <a:solidFill>
                  <a:srgbClr val="465B6C"/>
                </a:solidFill>
                <a:latin typeface="Verdana"/>
                <a:ea typeface="Verdana"/>
                <a:cs typeface="Verdana"/>
                <a:sym typeface="Verdana"/>
              </a:rPr>
              <a:t>identifies</a:t>
            </a:r>
            <a:endParaRPr/>
          </a:p>
        </p:txBody>
      </p:sp>
      <p:sp>
        <p:nvSpPr>
          <p:cNvPr id="66" name="Google Shape;66;p8"/>
          <p:cNvSpPr/>
          <p:nvPr/>
        </p:nvSpPr>
        <p:spPr>
          <a:xfrm>
            <a:off x="5114925" y="5724525"/>
            <a:ext cx="619125" cy="2571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50">
                <a:solidFill>
                  <a:srgbClr val="465B6C"/>
                </a:solidFill>
                <a:latin typeface="Verdana"/>
                <a:ea typeface="Verdana"/>
                <a:cs typeface="Verdana"/>
                <a:sym typeface="Verdana"/>
              </a:rPr>
              <a:t>has</a:t>
            </a:r>
            <a:endParaRPr/>
          </a:p>
        </p:txBody>
      </p:sp>
      <p:sp>
        <p:nvSpPr>
          <p:cNvPr id="67" name="Google Shape;67;p8"/>
          <p:cNvSpPr/>
          <p:nvPr/>
        </p:nvSpPr>
        <p:spPr>
          <a:xfrm>
            <a:off x="8896350" y="3876675"/>
            <a:ext cx="1857375" cy="2571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50">
                <a:solidFill>
                  <a:srgbClr val="465B6C"/>
                </a:solidFill>
                <a:latin typeface="Verdana"/>
                <a:ea typeface="Verdana"/>
                <a:cs typeface="Verdana"/>
                <a:sym typeface="Verdana"/>
              </a:rPr>
              <a:t>participants</a:t>
            </a:r>
            <a:endParaRPr/>
          </a:p>
        </p:txBody>
      </p:sp>
      <p:sp>
        <p:nvSpPr>
          <p:cNvPr id="68" name="Google Shape;68;p8"/>
          <p:cNvSpPr/>
          <p:nvPr/>
        </p:nvSpPr>
        <p:spPr>
          <a:xfrm>
            <a:off x="7829550" y="5772150"/>
            <a:ext cx="666750" cy="2571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465B6C"/>
                </a:solidFill>
                <a:latin typeface="Verdana"/>
                <a:ea typeface="Verdana"/>
                <a:cs typeface="Verdana"/>
                <a:sym typeface="Verdana"/>
              </a:rPr>
              <a:t>source</a:t>
            </a:r>
            <a:endParaRPr/>
          </a:p>
        </p:txBody>
      </p:sp>
      <p:sp>
        <p:nvSpPr>
          <p:cNvPr id="69" name="Google Shape;69;p8"/>
          <p:cNvSpPr/>
          <p:nvPr/>
        </p:nvSpPr>
        <p:spPr>
          <a:xfrm>
            <a:off x="6038850" y="6134100"/>
            <a:ext cx="723900" cy="2571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465B6C"/>
                </a:solidFill>
                <a:latin typeface="Verdana"/>
                <a:ea typeface="Verdana"/>
                <a:cs typeface="Verdana"/>
                <a:sym typeface="Verdana"/>
              </a:rPr>
              <a:t>source</a:t>
            </a:r>
            <a:endParaRPr/>
          </a:p>
        </p:txBody>
      </p:sp>
      <p:sp>
        <p:nvSpPr>
          <p:cNvPr id="70" name="Google Shape;70;p8"/>
          <p:cNvSpPr/>
          <p:nvPr/>
        </p:nvSpPr>
        <p:spPr>
          <a:xfrm>
            <a:off x="9239250" y="6657975"/>
            <a:ext cx="1428750" cy="2571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465B6C"/>
                </a:solidFill>
                <a:latin typeface="Verdana"/>
                <a:ea typeface="Verdana"/>
                <a:cs typeface="Verdana"/>
                <a:sym typeface="Verdana"/>
              </a:rPr>
              <a:t>evidence</a:t>
            </a:r>
            <a:endParaRPr/>
          </a:p>
        </p:txBody>
      </p:sp>
      <p:sp>
        <p:nvSpPr>
          <p:cNvPr id="71" name="Google Shape;71;p8"/>
          <p:cNvSpPr/>
          <p:nvPr/>
        </p:nvSpPr>
        <p:spPr>
          <a:xfrm>
            <a:off x="4191000" y="7191375"/>
            <a:ext cx="6619875"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50">
                <a:solidFill>
                  <a:srgbClr val="465B6C"/>
                </a:solidFill>
                <a:latin typeface="Verdana"/>
                <a:ea typeface="Verdana"/>
                <a:cs typeface="Verdana"/>
                <a:sym typeface="Verdana"/>
              </a:rPr>
              <a:t>Sources also support kinship assertions</a:t>
            </a:r>
            <a:endParaRPr/>
          </a:p>
        </p:txBody>
      </p:sp>
      <p:sp>
        <p:nvSpPr>
          <p:cNvPr id="72" name="Google Shape;72;p8"/>
          <p:cNvSpPr/>
          <p:nvPr/>
        </p:nvSpPr>
        <p:spPr>
          <a:xfrm>
            <a:off x="4191000" y="7572375"/>
            <a:ext cx="6619875" cy="4095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465B6C"/>
                </a:solidFill>
                <a:latin typeface="Verdana"/>
                <a:ea typeface="Verdana"/>
                <a:cs typeface="Verdana"/>
                <a:sym typeface="Verdana"/>
              </a:rPr>
              <a:t>Simplified conceptual sketch, draft. Attributes and participation limits omitted.</a:t>
            </a:r>
            <a:endParaRPr/>
          </a:p>
        </p:txBody>
      </p:sp>
      <p:sp>
        <p:nvSpPr>
          <p:cNvPr id="73" name="Google Shape;73;p8"/>
          <p:cNvSpPr/>
          <p:nvPr/>
        </p:nvSpPr>
        <p:spPr>
          <a:xfrm>
            <a:off x="11239500" y="2476500"/>
            <a:ext cx="352425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25">
                <a:solidFill>
                  <a:srgbClr val="102C46"/>
                </a:solidFill>
                <a:latin typeface="Verdana"/>
                <a:ea typeface="Verdana"/>
                <a:cs typeface="Verdana"/>
                <a:sym typeface="Verdana"/>
              </a:rPr>
              <a:t>Why it matters</a:t>
            </a:r>
            <a:endParaRPr/>
          </a:p>
        </p:txBody>
      </p:sp>
      <p:sp>
        <p:nvSpPr>
          <p:cNvPr id="74" name="Google Shape;74;p8"/>
          <p:cNvSpPr/>
          <p:nvPr/>
        </p:nvSpPr>
        <p:spPr>
          <a:xfrm>
            <a:off x="11239500" y="2990850"/>
            <a:ext cx="3524250" cy="1219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725">
                <a:solidFill>
                  <a:srgbClr val="102C46"/>
                </a:solidFill>
                <a:latin typeface="Verdana"/>
                <a:ea typeface="Verdana"/>
                <a:cs typeface="Verdana"/>
                <a:sym typeface="Verdana"/>
              </a:rPr>
              <a:t>Researchers could query family connections alongside repeated sightings and inspect the supporting evidence.</a:t>
            </a:r>
            <a:endParaRPr/>
          </a:p>
        </p:txBody>
      </p:sp>
      <p:sp>
        <p:nvSpPr>
          <p:cNvPr id="75" name="Google Shape;75;p8"/>
          <p:cNvSpPr/>
          <p:nvPr/>
        </p:nvSpPr>
        <p:spPr>
          <a:xfrm>
            <a:off x="11239500" y="4438650"/>
            <a:ext cx="3524250" cy="3619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950">
                <a:solidFill>
                  <a:srgbClr val="102C46"/>
                </a:solidFill>
                <a:latin typeface="Verdana"/>
                <a:ea typeface="Verdana"/>
                <a:cs typeface="Verdana"/>
                <a:sym typeface="Verdana"/>
              </a:rPr>
              <a:t>Modeling decisions</a:t>
            </a:r>
            <a:endParaRPr/>
          </a:p>
        </p:txBody>
      </p:sp>
      <p:sp>
        <p:nvSpPr>
          <p:cNvPr id="76" name="Google Shape;76;p8"/>
          <p:cNvSpPr/>
          <p:nvPr/>
        </p:nvSpPr>
        <p:spPr>
          <a:xfrm>
            <a:off x="11239500" y="4876800"/>
            <a:ext cx="3524250" cy="1695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725">
                <a:solidFill>
                  <a:srgbClr val="102C46"/>
                </a:solidFill>
                <a:latin typeface="Verdana"/>
                <a:ea typeface="Verdana"/>
                <a:cs typeface="Verdana"/>
                <a:sym typeface="Verdana"/>
              </a:rPr>
              <a:t>Kinship and co-sightings stay separate.</a:t>
            </a:r>
            <a:endParaRPr/>
          </a:p>
          <a:p>
            <a:pPr indent="0" lvl="0" marL="0" marR="0" rtl="0" algn="l">
              <a:spcBef>
                <a:spcPts val="0"/>
              </a:spcBef>
              <a:spcAft>
                <a:spcPts val="0"/>
              </a:spcAft>
              <a:buNone/>
            </a:pPr>
            <a:r>
              <a:t/>
            </a:r>
            <a:endParaRPr b="0" sz="1725">
              <a:solidFill>
                <a:srgbClr val="102C46"/>
              </a:solidFill>
              <a:latin typeface="Verdana"/>
              <a:ea typeface="Verdana"/>
              <a:cs typeface="Verdana"/>
              <a:sym typeface="Verdana"/>
            </a:endParaRPr>
          </a:p>
          <a:p>
            <a:pPr indent="0" lvl="0" marL="0" marR="0" rtl="0" algn="l">
              <a:spcBef>
                <a:spcPts val="0"/>
              </a:spcBef>
              <a:spcAft>
                <a:spcPts val="0"/>
              </a:spcAft>
              <a:buNone/>
            </a:pPr>
            <a:r>
              <a:rPr b="0" lang="en-US" sz="1725">
                <a:solidFill>
                  <a:srgbClr val="102C46"/>
                </a:solidFill>
                <a:latin typeface="Verdana"/>
                <a:ea typeface="Verdana"/>
                <a:cs typeface="Verdana"/>
                <a:sym typeface="Verdana"/>
              </a:rPr>
              <a:t>Group reports retain identification detail.</a:t>
            </a:r>
            <a:endParaRPr/>
          </a:p>
          <a:p>
            <a:pPr indent="0" lvl="0" marL="0" marR="0" rtl="0" algn="l">
              <a:spcBef>
                <a:spcPts val="0"/>
              </a:spcBef>
              <a:spcAft>
                <a:spcPts val="0"/>
              </a:spcAft>
              <a:buNone/>
            </a:pPr>
            <a:r>
              <a:t/>
            </a:r>
            <a:endParaRPr b="0" sz="1725">
              <a:solidFill>
                <a:srgbClr val="102C46"/>
              </a:solidFill>
              <a:latin typeface="Verdana"/>
              <a:ea typeface="Verdana"/>
              <a:cs typeface="Verdana"/>
              <a:sym typeface="Verdana"/>
            </a:endParaRPr>
          </a:p>
          <a:p>
            <a:pPr indent="0" lvl="0" marL="0" marR="0" rtl="0" algn="l">
              <a:spcBef>
                <a:spcPts val="0"/>
              </a:spcBef>
              <a:spcAft>
                <a:spcPts val="0"/>
              </a:spcAft>
              <a:buNone/>
            </a:pPr>
            <a:r>
              <a:rPr b="0" lang="en-US" sz="1725">
                <a:solidFill>
                  <a:srgbClr val="102C46"/>
                </a:solidFill>
                <a:latin typeface="Verdana"/>
                <a:ea typeface="Verdana"/>
                <a:cs typeface="Verdana"/>
                <a:sym typeface="Verdana"/>
              </a:rPr>
              <a:t>Connections keep their sources.</a:t>
            </a:r>
            <a:endParaRPr/>
          </a:p>
        </p:txBody>
      </p:sp>
      <p:sp>
        <p:nvSpPr>
          <p:cNvPr id="77" name="Google Shape;77;p8"/>
          <p:cNvSpPr/>
          <p:nvPr/>
        </p:nvSpPr>
        <p:spPr>
          <a:xfrm>
            <a:off x="11239500" y="6838950"/>
            <a:ext cx="3524250" cy="3619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875">
                <a:solidFill>
                  <a:srgbClr val="102C46"/>
                </a:solidFill>
                <a:latin typeface="Verdana"/>
                <a:ea typeface="Verdana"/>
                <a:cs typeface="Verdana"/>
                <a:sym typeface="Verdana"/>
              </a:rPr>
              <a:t>Planned knowledge graph</a:t>
            </a:r>
            <a:endParaRPr/>
          </a:p>
        </p:txBody>
      </p:sp>
      <p:sp>
        <p:nvSpPr>
          <p:cNvPr id="78" name="Google Shape;78;p8"/>
          <p:cNvSpPr/>
          <p:nvPr/>
        </p:nvSpPr>
        <p:spPr>
          <a:xfrm>
            <a:off x="11239500" y="7258050"/>
            <a:ext cx="3524250" cy="7334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102C46"/>
                </a:solidFill>
                <a:latin typeface="Verdana"/>
                <a:ea typeface="Verdana"/>
                <a:cs typeface="Verdana"/>
                <a:sym typeface="Verdana"/>
              </a:rPr>
              <a:t>Labeled links support queries about family, co-sightings and indirect connections.</a:t>
            </a:r>
            <a:endParaRPr/>
          </a:p>
        </p:txBody>
      </p:sp>
      <p:sp>
        <p:nvSpPr>
          <p:cNvPr id="79" name="Google Shape;79;p8"/>
          <p:cNvSpPr/>
          <p:nvPr/>
        </p:nvSpPr>
        <p:spPr>
          <a:xfrm>
            <a:off x="476250" y="8153400"/>
            <a:ext cx="14287500"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050">
                <a:solidFill>
                  <a:srgbClr val="465B6C"/>
                </a:solidFill>
                <a:latin typeface="Verdana"/>
                <a:ea typeface="Verdana"/>
                <a:cs typeface="Verdana"/>
                <a:sym typeface="Verdana"/>
              </a:rPr>
              <a:t>[1] CWR, Orca Identification.  [2] Thompson et al., Dryad (2026), doi:10.5061/dryad.gf1vhhn2f.  [3] The Whale Museum, supplied sighting records.</a:t>
            </a:r>
            <a:endParaRPr/>
          </a:p>
        </p:txBody>
      </p:sp>
      <p:sp>
        <p:nvSpPr>
          <p:cNvPr id="80" name="Google Shape;80;p8"/>
          <p:cNvSpPr/>
          <p:nvPr/>
        </p:nvSpPr>
        <p:spPr>
          <a:xfrm>
            <a:off x="476250" y="8362950"/>
            <a:ext cx="142875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050">
                <a:solidFill>
                  <a:srgbClr val="247B73"/>
                </a:solidFill>
                <a:latin typeface="Verdana"/>
                <a:ea typeface="Verdana"/>
                <a:cs typeface="Verdana"/>
                <a:sym typeface="Verdana"/>
              </a:rPr>
              <a:t>github.com/CSC501-OrcaLink/orcalink</a:t>
            </a:r>
            <a:endParaRPr/>
          </a:p>
        </p:txBody>
      </p:sp>
      <p:pic>
        <p:nvPicPr>
          <p:cNvPr id="81" name="Google Shape;81;p8"/>
          <p:cNvPicPr preferRelativeResize="0"/>
          <p:nvPr/>
        </p:nvPicPr>
        <p:blipFill>
          <a:blip r:embed="rId3">
            <a:alphaModFix/>
          </a:blip>
          <a:stretch>
            <a:fillRect/>
          </a:stretch>
        </p:blipFill>
        <p:spPr>
          <a:xfrm>
            <a:off x="12896850" y="0"/>
            <a:ext cx="2343149" cy="23431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