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3"/>
  </p:sldMasterIdLst>
  <p:notesMasterIdLst>
    <p:notesMasterId r:id="rId4"/>
  </p:notesMasterIdLst>
  <p:sldIdLst>
    <p:sldId id="256" r:id="rId5"/>
  </p:sldIdLst>
  <p:sldSz cy="8572500" cx="15240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 name="Google Shape;28;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Our project is called OrcaLink. We’re looking at Southern Resident killer whales and how to connect information about their families with records of where they’ve been seen.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The question we want to explore is: which whales have been recorded together, and how might those connections relate to their family relationships?</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This could help researchers look across different records instead of checking each source separately. They could also see what evidence supports a connection.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In our literature review, we compared three sources. The Center for Whale Research records individual whale identities and family groups. The Dryad dataset connects whale records to sightings. The Whale Museum provides reports of groups seen at particular times and places.</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These sources describe the same population, but at different levels of detail. That creates a problem when we combine them.</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For example, a report might say that a pod was seen, without confirming every individual whale. If we treat that as individual identification, we could make the evidence look stronger than it actually is. Also, seeing two whales together does not automatically mean they have a close social bond.</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Our proposed model keeps those differences clear.</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In the diagram, kinship assertions describe family relationships between whales. We keep these separate from associations based on sightings or later analysis.</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For sightings, we separate individual observations from group observations. This allows us to keep a useful group report even when individual identities are unknown.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We also keep the sources supporting the records. This helps us distinguish what was reported from connections we derive through analysis.</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Next, we plan to turn this model into a relational database and then a knowledge graph, where whales and records become connected nodes with labeled relationships.</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We aim to use it to explore family connections, repeated sightings together, and indirect connections between whales.</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At this stage, we’re proposing the model. Our goal is to connect the information while keeping clear what each record actually tells us.</a:t>
            </a:r>
            <a:endParaRPr>
              <a:solidFill>
                <a:schemeClr val="dk1"/>
              </a:solidFill>
            </a:endParaRPr>
          </a:p>
          <a:p>
            <a:pPr indent="0" lvl="0" marL="0" rtl="0" algn="l">
              <a:spcBef>
                <a:spcPts val="1200"/>
              </a:spcBef>
              <a:spcAft>
                <a:spcPts val="1200"/>
              </a:spcAft>
              <a:buNone/>
            </a:pPr>
            <a:r>
              <a:t/>
            </a:r>
            <a:endParaRPr>
              <a:solidFill>
                <a:schemeClr val="dk1"/>
              </a:solidFill>
            </a:endParaRPr>
          </a:p>
        </p:txBody>
      </p:sp>
      <p:sp>
        <p:nvSpPr>
          <p:cNvPr id="29" name="Google Shape;29;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524000" y="3238500"/>
            <a:ext cx="12192000" cy="123825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2286000" y="4714875"/>
            <a:ext cx="10668000" cy="9525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524000" y="3571875"/>
            <a:ext cx="12192000" cy="142875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857250" y="666750"/>
            <a:ext cx="13525500" cy="104775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857250" y="2381250"/>
            <a:ext cx="13525500" cy="53340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500"/>
              </a:spcBef>
              <a:spcAft>
                <a:spcPts val="15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857250" y="666750"/>
            <a:ext cx="13525500" cy="104775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857250" y="2381250"/>
            <a:ext cx="6286500" cy="53340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500"/>
              </a:spcBef>
              <a:spcAft>
                <a:spcPts val="15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8096250" y="2381250"/>
            <a:ext cx="6286500" cy="53340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500"/>
              </a:spcBef>
              <a:spcAft>
                <a:spcPts val="15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857250" y="666750"/>
            <a:ext cx="13525500" cy="104775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857250" y="2381250"/>
            <a:ext cx="6286500" cy="53340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500"/>
              </a:spcBef>
              <a:spcAft>
                <a:spcPts val="15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 name="Shape 30"/>
        <p:cNvGrpSpPr/>
        <p:nvPr/>
      </p:nvGrpSpPr>
      <p:grpSpPr>
        <a:xfrm>
          <a:off x="0" y="0"/>
          <a:ext cx="0" cy="0"/>
          <a:chOff x="0" y="0"/>
          <a:chExt cx="0" cy="0"/>
        </a:xfrm>
      </p:grpSpPr>
      <p:cxnSp>
        <p:nvCxnSpPr>
          <p:cNvPr id="31" name="Google Shape;31;p8"/>
          <p:cNvCxnSpPr>
            <a:stCxn id="32" idx="3"/>
            <a:endCxn id="33" idx="2"/>
          </p:cNvCxnSpPr>
          <p:nvPr/>
        </p:nvCxnSpPr>
        <p:spPr>
          <a:xfrm flipH="1" rot="10800000">
            <a:off x="8572500" y="3886388"/>
            <a:ext cx="1500000" cy="2757300"/>
          </a:xfrm>
          <a:prstGeom prst="bentConnector2">
            <a:avLst/>
          </a:prstGeom>
          <a:noFill/>
          <a:ln cap="flat" cmpd="sng" w="19050">
            <a:solidFill>
              <a:srgbClr val="526978"/>
            </a:solidFill>
            <a:prstDash val="solid"/>
            <a:round/>
            <a:headEnd len="sm" w="sm" type="none"/>
            <a:tailEnd len="sm" w="sm" type="none"/>
          </a:ln>
        </p:spPr>
      </p:cxnSp>
      <p:cxnSp>
        <p:nvCxnSpPr>
          <p:cNvPr id="34" name="Google Shape;34;p8"/>
          <p:cNvCxnSpPr>
            <a:stCxn id="32" idx="1"/>
            <a:endCxn id="35" idx="3"/>
          </p:cNvCxnSpPr>
          <p:nvPr/>
        </p:nvCxnSpPr>
        <p:spPr>
          <a:xfrm rot="10800000">
            <a:off x="5857800" y="6643688"/>
            <a:ext cx="1000200" cy="0"/>
          </a:xfrm>
          <a:prstGeom prst="straightConnector1">
            <a:avLst/>
          </a:prstGeom>
          <a:noFill/>
          <a:ln cap="flat" cmpd="sng" w="19050">
            <a:solidFill>
              <a:srgbClr val="526978"/>
            </a:solidFill>
            <a:prstDash val="solid"/>
            <a:round/>
            <a:headEnd len="sm" w="sm" type="none"/>
            <a:tailEnd len="sm" w="sm" type="none"/>
          </a:ln>
        </p:spPr>
      </p:cxnSp>
      <p:cxnSp>
        <p:nvCxnSpPr>
          <p:cNvPr id="36" name="Google Shape;36;p8"/>
          <p:cNvCxnSpPr>
            <a:stCxn id="32" idx="0"/>
            <a:endCxn id="37" idx="2"/>
          </p:cNvCxnSpPr>
          <p:nvPr/>
        </p:nvCxnSpPr>
        <p:spPr>
          <a:xfrm rot="10800000">
            <a:off x="7715250" y="5429400"/>
            <a:ext cx="0" cy="857100"/>
          </a:xfrm>
          <a:prstGeom prst="straightConnector1">
            <a:avLst/>
          </a:prstGeom>
          <a:noFill/>
          <a:ln cap="flat" cmpd="sng" w="19050">
            <a:solidFill>
              <a:srgbClr val="526978"/>
            </a:solidFill>
            <a:prstDash val="solid"/>
            <a:round/>
            <a:headEnd len="sm" w="sm" type="none"/>
            <a:tailEnd len="sm" w="sm" type="none"/>
          </a:ln>
        </p:spPr>
      </p:cxnSp>
      <p:cxnSp>
        <p:nvCxnSpPr>
          <p:cNvPr id="38" name="Google Shape;38;p8"/>
          <p:cNvCxnSpPr>
            <a:stCxn id="39" idx="2"/>
            <a:endCxn id="35" idx="0"/>
          </p:cNvCxnSpPr>
          <p:nvPr/>
        </p:nvCxnSpPr>
        <p:spPr>
          <a:xfrm>
            <a:off x="5024400" y="5373009"/>
            <a:ext cx="0" cy="913500"/>
          </a:xfrm>
          <a:prstGeom prst="straightConnector1">
            <a:avLst/>
          </a:prstGeom>
          <a:noFill/>
          <a:ln cap="flat" cmpd="sng" w="19050">
            <a:solidFill>
              <a:srgbClr val="526978"/>
            </a:solidFill>
            <a:prstDash val="solid"/>
            <a:round/>
            <a:headEnd len="sm" w="sm" type="none"/>
            <a:tailEnd len="sm" w="sm" type="none"/>
          </a:ln>
        </p:spPr>
      </p:cxnSp>
      <p:cxnSp>
        <p:nvCxnSpPr>
          <p:cNvPr id="40" name="Google Shape;40;p8"/>
          <p:cNvCxnSpPr>
            <a:stCxn id="37" idx="0"/>
            <a:endCxn id="41" idx="2"/>
          </p:cNvCxnSpPr>
          <p:nvPr/>
        </p:nvCxnSpPr>
        <p:spPr>
          <a:xfrm rot="10800000">
            <a:off x="7715250" y="3886275"/>
            <a:ext cx="0" cy="828600"/>
          </a:xfrm>
          <a:prstGeom prst="straightConnector1">
            <a:avLst/>
          </a:prstGeom>
          <a:noFill/>
          <a:ln cap="flat" cmpd="sng" w="19050">
            <a:solidFill>
              <a:srgbClr val="526978"/>
            </a:solidFill>
            <a:prstDash val="solid"/>
            <a:round/>
            <a:headEnd len="sm" w="sm" type="none"/>
            <a:tailEnd len="sm" w="sm" type="none"/>
          </a:ln>
        </p:spPr>
      </p:cxnSp>
      <p:cxnSp>
        <p:nvCxnSpPr>
          <p:cNvPr id="42" name="Google Shape;42;p8"/>
          <p:cNvCxnSpPr>
            <a:stCxn id="39" idx="3"/>
            <a:endCxn id="37" idx="1"/>
          </p:cNvCxnSpPr>
          <p:nvPr/>
        </p:nvCxnSpPr>
        <p:spPr>
          <a:xfrm flipH="1" rot="10800000">
            <a:off x="5857800" y="5071959"/>
            <a:ext cx="1000200" cy="5700"/>
          </a:xfrm>
          <a:prstGeom prst="straightConnector1">
            <a:avLst/>
          </a:prstGeom>
          <a:noFill/>
          <a:ln cap="flat" cmpd="sng" w="19050">
            <a:solidFill>
              <a:srgbClr val="526978"/>
            </a:solidFill>
            <a:prstDash val="solid"/>
            <a:round/>
            <a:headEnd len="sm" w="sm" type="none"/>
            <a:tailEnd len="sm" w="sm" type="none"/>
          </a:ln>
        </p:spPr>
      </p:cxnSp>
      <p:cxnSp>
        <p:nvCxnSpPr>
          <p:cNvPr id="43" name="Google Shape;43;p8"/>
          <p:cNvCxnSpPr/>
          <p:nvPr/>
        </p:nvCxnSpPr>
        <p:spPr>
          <a:xfrm>
            <a:off x="8477250" y="3433233"/>
            <a:ext cx="786300" cy="0"/>
          </a:xfrm>
          <a:prstGeom prst="straightConnector1">
            <a:avLst/>
          </a:prstGeom>
          <a:noFill/>
          <a:ln cap="flat" cmpd="sng" w="19050">
            <a:solidFill>
              <a:srgbClr val="526978"/>
            </a:solidFill>
            <a:prstDash val="solid"/>
            <a:round/>
            <a:headEnd len="sm" w="sm" type="none"/>
            <a:tailEnd len="sm" w="sm" type="none"/>
          </a:ln>
        </p:spPr>
      </p:cxnSp>
      <p:sp>
        <p:nvSpPr>
          <p:cNvPr id="44" name="Google Shape;44;p8"/>
          <p:cNvSpPr/>
          <p:nvPr/>
        </p:nvSpPr>
        <p:spPr>
          <a:xfrm>
            <a:off x="476250" y="266700"/>
            <a:ext cx="6667500" cy="590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750">
                <a:solidFill>
                  <a:srgbClr val="102C46"/>
                </a:solidFill>
                <a:latin typeface="Verdana"/>
                <a:ea typeface="Verdana"/>
                <a:cs typeface="Verdana"/>
                <a:sym typeface="Verdana"/>
              </a:rPr>
              <a:t>OrcaLink</a:t>
            </a:r>
            <a:endParaRPr/>
          </a:p>
        </p:txBody>
      </p:sp>
      <p:sp>
        <p:nvSpPr>
          <p:cNvPr id="45" name="Google Shape;45;p8"/>
          <p:cNvSpPr/>
          <p:nvPr/>
        </p:nvSpPr>
        <p:spPr>
          <a:xfrm>
            <a:off x="476250" y="914400"/>
            <a:ext cx="14287500" cy="4000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75">
                <a:solidFill>
                  <a:srgbClr val="102C46"/>
                </a:solidFill>
                <a:latin typeface="Verdana"/>
                <a:ea typeface="Verdana"/>
                <a:cs typeface="Verdana"/>
                <a:sym typeface="Verdana"/>
              </a:rPr>
              <a:t>Modeling Potential Social Ties in Southern Resident Killer Whales</a:t>
            </a:r>
            <a:endParaRPr/>
          </a:p>
        </p:txBody>
      </p:sp>
      <p:sp>
        <p:nvSpPr>
          <p:cNvPr id="46" name="Google Shape;46;p8"/>
          <p:cNvSpPr/>
          <p:nvPr/>
        </p:nvSpPr>
        <p:spPr>
          <a:xfrm>
            <a:off x="476250" y="1352550"/>
            <a:ext cx="14287500" cy="3238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650">
                <a:solidFill>
                  <a:srgbClr val="465B6C"/>
                </a:solidFill>
                <a:latin typeface="Verdana"/>
                <a:ea typeface="Verdana"/>
                <a:cs typeface="Verdana"/>
                <a:sym typeface="Verdana"/>
              </a:rPr>
              <a:t>Aung Htut and Bowen Zhang											</a:t>
            </a:r>
            <a:r>
              <a:rPr lang="en-US" sz="1650">
                <a:solidFill>
                  <a:srgbClr val="465B6C"/>
                </a:solidFill>
                <a:latin typeface="Verdana"/>
                <a:ea typeface="Verdana"/>
                <a:cs typeface="Verdana"/>
                <a:sym typeface="Verdana"/>
              </a:rPr>
              <a:t>  University of Victoria</a:t>
            </a:r>
            <a:endParaRPr/>
          </a:p>
        </p:txBody>
      </p:sp>
      <p:sp>
        <p:nvSpPr>
          <p:cNvPr id="47" name="Google Shape;47;p8"/>
          <p:cNvSpPr/>
          <p:nvPr/>
        </p:nvSpPr>
        <p:spPr>
          <a:xfrm>
            <a:off x="476250" y="1790700"/>
            <a:ext cx="142875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75">
                <a:solidFill>
                  <a:srgbClr val="247B73"/>
                </a:solidFill>
                <a:latin typeface="Verdana"/>
                <a:ea typeface="Verdana"/>
                <a:cs typeface="Verdana"/>
                <a:sym typeface="Verdana"/>
              </a:rPr>
              <a:t>Connecting family records and sightings while preserving the evidence behind each connection</a:t>
            </a:r>
            <a:endParaRPr/>
          </a:p>
        </p:txBody>
      </p:sp>
      <p:sp>
        <p:nvSpPr>
          <p:cNvPr id="48" name="Google Shape;48;p8"/>
          <p:cNvSpPr/>
          <p:nvPr/>
        </p:nvSpPr>
        <p:spPr>
          <a:xfrm>
            <a:off x="476250" y="2476500"/>
            <a:ext cx="333375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102C46"/>
                </a:solidFill>
                <a:latin typeface="Verdana"/>
                <a:ea typeface="Verdana"/>
                <a:cs typeface="Verdana"/>
                <a:sym typeface="Verdana"/>
              </a:rPr>
              <a:t>Existing sources</a:t>
            </a:r>
            <a:endParaRPr sz="1800"/>
          </a:p>
        </p:txBody>
      </p:sp>
      <p:sp>
        <p:nvSpPr>
          <p:cNvPr id="49" name="Google Shape;49;p8"/>
          <p:cNvSpPr/>
          <p:nvPr/>
        </p:nvSpPr>
        <p:spPr>
          <a:xfrm>
            <a:off x="476250" y="3028950"/>
            <a:ext cx="3238500" cy="304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a:solidFill>
                  <a:srgbClr val="247B73"/>
                </a:solidFill>
                <a:latin typeface="Verdana"/>
                <a:ea typeface="Verdana"/>
                <a:cs typeface="Verdana"/>
                <a:sym typeface="Verdana"/>
              </a:rPr>
              <a:t>Center for Whale Research</a:t>
            </a:r>
            <a:r>
              <a:rPr b="1" lang="en-US">
                <a:solidFill>
                  <a:srgbClr val="247B73"/>
                </a:solidFill>
                <a:latin typeface="Verdana"/>
                <a:ea typeface="Verdana"/>
                <a:cs typeface="Verdana"/>
                <a:sym typeface="Verdana"/>
              </a:rPr>
              <a:t> [1]</a:t>
            </a:r>
            <a:endParaRPr sz="1000"/>
          </a:p>
        </p:txBody>
      </p:sp>
      <p:sp>
        <p:nvSpPr>
          <p:cNvPr id="50" name="Google Shape;50;p8"/>
          <p:cNvSpPr/>
          <p:nvPr/>
        </p:nvSpPr>
        <p:spPr>
          <a:xfrm>
            <a:off x="463717" y="4188995"/>
            <a:ext cx="3238500" cy="304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a:solidFill>
                  <a:srgbClr val="247B73"/>
                </a:solidFill>
                <a:latin typeface="Verdana"/>
                <a:ea typeface="Verdana"/>
                <a:cs typeface="Verdana"/>
                <a:sym typeface="Verdana"/>
              </a:rPr>
              <a:t>Dryad [2]</a:t>
            </a:r>
            <a:endParaRPr sz="1000"/>
          </a:p>
        </p:txBody>
      </p:sp>
      <p:sp>
        <p:nvSpPr>
          <p:cNvPr id="51" name="Google Shape;51;p8"/>
          <p:cNvSpPr/>
          <p:nvPr/>
        </p:nvSpPr>
        <p:spPr>
          <a:xfrm>
            <a:off x="476250" y="5372100"/>
            <a:ext cx="3238500" cy="304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a:solidFill>
                  <a:srgbClr val="247B73"/>
                </a:solidFill>
                <a:latin typeface="Verdana"/>
                <a:ea typeface="Verdana"/>
                <a:cs typeface="Verdana"/>
                <a:sym typeface="Verdana"/>
              </a:rPr>
              <a:t>The Whale Museum [3]</a:t>
            </a:r>
            <a:endParaRPr/>
          </a:p>
        </p:txBody>
      </p:sp>
      <p:sp>
        <p:nvSpPr>
          <p:cNvPr id="52" name="Google Shape;52;p8"/>
          <p:cNvSpPr/>
          <p:nvPr/>
        </p:nvSpPr>
        <p:spPr>
          <a:xfrm>
            <a:off x="400050" y="6809874"/>
            <a:ext cx="3238500" cy="333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102C46"/>
                </a:solidFill>
                <a:latin typeface="Verdana"/>
                <a:ea typeface="Verdana"/>
                <a:cs typeface="Verdana"/>
                <a:sym typeface="Verdana"/>
              </a:rPr>
              <a:t>The integration gap</a:t>
            </a:r>
            <a:endParaRPr sz="1800"/>
          </a:p>
        </p:txBody>
      </p:sp>
      <p:sp>
        <p:nvSpPr>
          <p:cNvPr id="53" name="Google Shape;53;p8"/>
          <p:cNvSpPr/>
          <p:nvPr/>
        </p:nvSpPr>
        <p:spPr>
          <a:xfrm>
            <a:off x="400050" y="7203908"/>
            <a:ext cx="3133200" cy="1000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a:solidFill>
                  <a:srgbClr val="102C46"/>
                </a:solidFill>
                <a:latin typeface="Verdana"/>
                <a:ea typeface="Verdana"/>
                <a:cs typeface="Verdana"/>
                <a:sym typeface="Verdana"/>
              </a:rPr>
              <a:t>Group reports do not confirm every individual whale</a:t>
            </a:r>
            <a:endParaRPr/>
          </a:p>
        </p:txBody>
      </p:sp>
      <p:sp>
        <p:nvSpPr>
          <p:cNvPr id="54" name="Google Shape;54;p8"/>
          <p:cNvSpPr/>
          <p:nvPr/>
        </p:nvSpPr>
        <p:spPr>
          <a:xfrm>
            <a:off x="4191000" y="2476500"/>
            <a:ext cx="638175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102C46"/>
                </a:solidFill>
                <a:latin typeface="Verdana"/>
                <a:ea typeface="Verdana"/>
                <a:cs typeface="Verdana"/>
                <a:sym typeface="Verdana"/>
              </a:rPr>
              <a:t>Proposed model</a:t>
            </a:r>
            <a:endParaRPr sz="1800"/>
          </a:p>
        </p:txBody>
      </p:sp>
      <p:sp>
        <p:nvSpPr>
          <p:cNvPr id="55" name="Google Shape;55;p8"/>
          <p:cNvSpPr/>
          <p:nvPr/>
        </p:nvSpPr>
        <p:spPr>
          <a:xfrm>
            <a:off x="4191000" y="3295650"/>
            <a:ext cx="1666800" cy="590700"/>
          </a:xfrm>
          <a:prstGeom prst="roundRect">
            <a:avLst>
              <a:gd fmla="val 12903" name="adj"/>
            </a:avLst>
          </a:prstGeom>
          <a:solidFill>
            <a:srgbClr val="DCEED5"/>
          </a:solidFill>
          <a:ln cap="flat" cmpd="sng" w="12375">
            <a:solidFill>
              <a:srgbClr val="9BAFBD"/>
            </a:solidFill>
            <a:prstDash val="solid"/>
            <a:round/>
            <a:headEnd len="sm" w="sm" type="none"/>
            <a:tailEnd len="sm" w="sm" type="none"/>
          </a:ln>
        </p:spPr>
        <p:txBody>
          <a:bodyPr anchorCtr="0" anchor="ctr" bIns="66675" lIns="66675" spcFirstLastPara="1" rIns="66675" wrap="square" tIns="66675">
            <a:noAutofit/>
          </a:bodyPr>
          <a:lstStyle/>
          <a:p>
            <a:pPr indent="0" lvl="0" marL="0" marR="0" rtl="0" algn="ctr">
              <a:spcBef>
                <a:spcPts val="0"/>
              </a:spcBef>
              <a:spcAft>
                <a:spcPts val="0"/>
              </a:spcAft>
              <a:buNone/>
            </a:pPr>
            <a:r>
              <a:rPr b="1" lang="en-US" sz="1575">
                <a:solidFill>
                  <a:srgbClr val="102C46"/>
                </a:solidFill>
                <a:latin typeface="Verdana"/>
                <a:ea typeface="Verdana"/>
                <a:cs typeface="Verdana"/>
                <a:sym typeface="Verdana"/>
              </a:rPr>
              <a:t>Kinship Assertion</a:t>
            </a:r>
            <a:endParaRPr/>
          </a:p>
        </p:txBody>
      </p:sp>
      <p:sp>
        <p:nvSpPr>
          <p:cNvPr id="41" name="Google Shape;41;p8"/>
          <p:cNvSpPr/>
          <p:nvPr/>
        </p:nvSpPr>
        <p:spPr>
          <a:xfrm>
            <a:off x="6953250" y="3295650"/>
            <a:ext cx="1524000" cy="590700"/>
          </a:xfrm>
          <a:prstGeom prst="roundRect">
            <a:avLst>
              <a:gd fmla="val 12903" name="adj"/>
            </a:avLst>
          </a:prstGeom>
          <a:solidFill>
            <a:srgbClr val="DCEED5"/>
          </a:solidFill>
          <a:ln cap="flat" cmpd="sng" w="12375">
            <a:solidFill>
              <a:srgbClr val="9BAFBD"/>
            </a:solidFill>
            <a:prstDash val="solid"/>
            <a:round/>
            <a:headEnd len="sm" w="sm" type="none"/>
            <a:tailEnd len="sm" w="sm" type="none"/>
          </a:ln>
        </p:spPr>
        <p:txBody>
          <a:bodyPr anchorCtr="0" anchor="ctr" bIns="66675" lIns="66675" spcFirstLastPara="1" rIns="66675" wrap="square" tIns="66675">
            <a:noAutofit/>
          </a:bodyPr>
          <a:lstStyle/>
          <a:p>
            <a:pPr indent="0" lvl="0" marL="0" marR="0" rtl="0" algn="ctr">
              <a:spcBef>
                <a:spcPts val="0"/>
              </a:spcBef>
              <a:spcAft>
                <a:spcPts val="0"/>
              </a:spcAft>
              <a:buNone/>
            </a:pPr>
            <a:r>
              <a:rPr b="1" lang="en-US" sz="1575">
                <a:solidFill>
                  <a:srgbClr val="102C46"/>
                </a:solidFill>
                <a:latin typeface="Verdana"/>
                <a:ea typeface="Verdana"/>
                <a:cs typeface="Verdana"/>
                <a:sym typeface="Verdana"/>
              </a:rPr>
              <a:t>Whale</a:t>
            </a:r>
            <a:endParaRPr/>
          </a:p>
        </p:txBody>
      </p:sp>
      <p:sp>
        <p:nvSpPr>
          <p:cNvPr id="39" name="Google Shape;39;p8"/>
          <p:cNvSpPr/>
          <p:nvPr/>
        </p:nvSpPr>
        <p:spPr>
          <a:xfrm>
            <a:off x="4191000" y="4782309"/>
            <a:ext cx="1666800" cy="590700"/>
          </a:xfrm>
          <a:prstGeom prst="roundRect">
            <a:avLst>
              <a:gd fmla="val 12903" name="adj"/>
            </a:avLst>
          </a:prstGeom>
          <a:solidFill>
            <a:srgbClr val="D8EBF8"/>
          </a:solidFill>
          <a:ln cap="flat" cmpd="sng" w="12375">
            <a:solidFill>
              <a:srgbClr val="9BAFBD"/>
            </a:solidFill>
            <a:prstDash val="solid"/>
            <a:round/>
            <a:headEnd len="sm" w="sm" type="none"/>
            <a:tailEnd len="sm" w="sm" type="none"/>
          </a:ln>
        </p:spPr>
        <p:txBody>
          <a:bodyPr anchorCtr="0" anchor="ctr" bIns="66675" lIns="66675" spcFirstLastPara="1" rIns="66675" wrap="square" tIns="66675">
            <a:noAutofit/>
          </a:bodyPr>
          <a:lstStyle/>
          <a:p>
            <a:pPr indent="0" lvl="0" marL="0" marR="0" rtl="0" algn="ctr">
              <a:spcBef>
                <a:spcPts val="0"/>
              </a:spcBef>
              <a:spcAft>
                <a:spcPts val="0"/>
              </a:spcAft>
              <a:buNone/>
            </a:pPr>
            <a:r>
              <a:rPr b="1" lang="en-US" sz="1575">
                <a:solidFill>
                  <a:srgbClr val="102C46"/>
                </a:solidFill>
                <a:latin typeface="Verdana"/>
                <a:ea typeface="Verdana"/>
                <a:cs typeface="Verdana"/>
                <a:sym typeface="Verdana"/>
              </a:rPr>
              <a:t>Sighting</a:t>
            </a:r>
            <a:endParaRPr/>
          </a:p>
        </p:txBody>
      </p:sp>
      <p:sp>
        <p:nvSpPr>
          <p:cNvPr id="37" name="Google Shape;37;p8"/>
          <p:cNvSpPr/>
          <p:nvPr/>
        </p:nvSpPr>
        <p:spPr>
          <a:xfrm>
            <a:off x="6858000" y="4714875"/>
            <a:ext cx="1714500" cy="714375"/>
          </a:xfrm>
          <a:prstGeom prst="roundRect">
            <a:avLst>
              <a:gd fmla="val 10667" name="adj"/>
            </a:avLst>
          </a:prstGeom>
          <a:solidFill>
            <a:srgbClr val="D8EBF8"/>
          </a:solidFill>
          <a:ln cap="flat" cmpd="sng" w="12375">
            <a:solidFill>
              <a:srgbClr val="9BAFBD"/>
            </a:solidFill>
            <a:prstDash val="solid"/>
            <a:round/>
            <a:headEnd len="sm" w="sm" type="none"/>
            <a:tailEnd len="sm" w="sm" type="none"/>
          </a:ln>
        </p:spPr>
        <p:txBody>
          <a:bodyPr anchorCtr="0" anchor="ctr" bIns="66675" lIns="66675" spcFirstLastPara="1" rIns="66675" wrap="square" tIns="66675">
            <a:noAutofit/>
          </a:bodyPr>
          <a:lstStyle/>
          <a:p>
            <a:pPr indent="0" lvl="0" marL="0" marR="0" rtl="0" algn="ctr">
              <a:spcBef>
                <a:spcPts val="0"/>
              </a:spcBef>
              <a:spcAft>
                <a:spcPts val="0"/>
              </a:spcAft>
              <a:buNone/>
            </a:pPr>
            <a:r>
              <a:rPr b="1" lang="en-US" sz="1575">
                <a:solidFill>
                  <a:srgbClr val="102C46"/>
                </a:solidFill>
                <a:latin typeface="Verdana"/>
                <a:ea typeface="Verdana"/>
                <a:cs typeface="Verdana"/>
                <a:sym typeface="Verdana"/>
              </a:rPr>
              <a:t>Individual</a:t>
            </a:r>
            <a:endParaRPr/>
          </a:p>
          <a:p>
            <a:pPr indent="0" lvl="0" marL="0" marR="0" rtl="0" algn="ctr">
              <a:spcBef>
                <a:spcPts val="0"/>
              </a:spcBef>
              <a:spcAft>
                <a:spcPts val="0"/>
              </a:spcAft>
              <a:buNone/>
            </a:pPr>
            <a:r>
              <a:rPr b="1" lang="en-US" sz="1575">
                <a:solidFill>
                  <a:srgbClr val="102C46"/>
                </a:solidFill>
                <a:latin typeface="Verdana"/>
                <a:ea typeface="Verdana"/>
                <a:cs typeface="Verdana"/>
                <a:sym typeface="Verdana"/>
              </a:rPr>
              <a:t>Observation</a:t>
            </a:r>
            <a:endParaRPr/>
          </a:p>
        </p:txBody>
      </p:sp>
      <p:sp>
        <p:nvSpPr>
          <p:cNvPr id="33" name="Google Shape;33;p8"/>
          <p:cNvSpPr/>
          <p:nvPr/>
        </p:nvSpPr>
        <p:spPr>
          <a:xfrm>
            <a:off x="9262827" y="3295650"/>
            <a:ext cx="1619100" cy="590700"/>
          </a:xfrm>
          <a:prstGeom prst="roundRect">
            <a:avLst>
              <a:gd fmla="val 10667" name="adj"/>
            </a:avLst>
          </a:prstGeom>
          <a:solidFill>
            <a:srgbClr val="F9E5C6"/>
          </a:solidFill>
          <a:ln cap="flat" cmpd="sng" w="12375">
            <a:solidFill>
              <a:srgbClr val="9BAFBD"/>
            </a:solidFill>
            <a:prstDash val="solid"/>
            <a:round/>
            <a:headEnd len="sm" w="sm" type="none"/>
            <a:tailEnd len="sm" w="sm" type="none"/>
          </a:ln>
        </p:spPr>
        <p:txBody>
          <a:bodyPr anchorCtr="0" anchor="ctr" bIns="66675" lIns="66675" spcFirstLastPara="1" rIns="66675" wrap="square" tIns="66675">
            <a:noAutofit/>
          </a:bodyPr>
          <a:lstStyle/>
          <a:p>
            <a:pPr indent="0" lvl="0" marL="0" marR="0" rtl="0" algn="ctr">
              <a:spcBef>
                <a:spcPts val="0"/>
              </a:spcBef>
              <a:spcAft>
                <a:spcPts val="0"/>
              </a:spcAft>
              <a:buNone/>
            </a:pPr>
            <a:r>
              <a:rPr b="1" lang="en-US" sz="1575">
                <a:solidFill>
                  <a:srgbClr val="102C46"/>
                </a:solidFill>
                <a:latin typeface="Verdana"/>
                <a:ea typeface="Verdana"/>
                <a:cs typeface="Verdana"/>
                <a:sym typeface="Verdana"/>
              </a:rPr>
              <a:t>Association</a:t>
            </a:r>
            <a:endParaRPr/>
          </a:p>
        </p:txBody>
      </p:sp>
      <p:sp>
        <p:nvSpPr>
          <p:cNvPr id="35" name="Google Shape;35;p8"/>
          <p:cNvSpPr/>
          <p:nvPr/>
        </p:nvSpPr>
        <p:spPr>
          <a:xfrm>
            <a:off x="4191000" y="6286500"/>
            <a:ext cx="1666875" cy="714375"/>
          </a:xfrm>
          <a:prstGeom prst="roundRect">
            <a:avLst>
              <a:gd fmla="val 10667" name="adj"/>
            </a:avLst>
          </a:prstGeom>
          <a:solidFill>
            <a:srgbClr val="D8EBF8"/>
          </a:solidFill>
          <a:ln cap="flat" cmpd="sng" w="12375">
            <a:solidFill>
              <a:srgbClr val="9BAFBD"/>
            </a:solidFill>
            <a:prstDash val="solid"/>
            <a:round/>
            <a:headEnd len="sm" w="sm" type="none"/>
            <a:tailEnd len="sm" w="sm" type="none"/>
          </a:ln>
        </p:spPr>
        <p:txBody>
          <a:bodyPr anchorCtr="0" anchor="ctr" bIns="66675" lIns="66675" spcFirstLastPara="1" rIns="66675" wrap="square" tIns="66675">
            <a:noAutofit/>
          </a:bodyPr>
          <a:lstStyle/>
          <a:p>
            <a:pPr indent="0" lvl="0" marL="0" marR="0" rtl="0" algn="ctr">
              <a:spcBef>
                <a:spcPts val="0"/>
              </a:spcBef>
              <a:spcAft>
                <a:spcPts val="0"/>
              </a:spcAft>
              <a:buNone/>
            </a:pPr>
            <a:r>
              <a:rPr b="1" lang="en-US" sz="1575">
                <a:solidFill>
                  <a:srgbClr val="102C46"/>
                </a:solidFill>
                <a:latin typeface="Verdana"/>
                <a:ea typeface="Verdana"/>
                <a:cs typeface="Verdana"/>
                <a:sym typeface="Verdana"/>
              </a:rPr>
              <a:t>Group</a:t>
            </a:r>
            <a:endParaRPr/>
          </a:p>
          <a:p>
            <a:pPr indent="0" lvl="0" marL="0" marR="0" rtl="0" algn="ctr">
              <a:spcBef>
                <a:spcPts val="0"/>
              </a:spcBef>
              <a:spcAft>
                <a:spcPts val="0"/>
              </a:spcAft>
              <a:buNone/>
            </a:pPr>
            <a:r>
              <a:rPr b="1" lang="en-US" sz="1575">
                <a:solidFill>
                  <a:srgbClr val="102C46"/>
                </a:solidFill>
                <a:latin typeface="Verdana"/>
                <a:ea typeface="Verdana"/>
                <a:cs typeface="Verdana"/>
                <a:sym typeface="Verdana"/>
              </a:rPr>
              <a:t>Observation</a:t>
            </a:r>
            <a:endParaRPr/>
          </a:p>
        </p:txBody>
      </p:sp>
      <p:sp>
        <p:nvSpPr>
          <p:cNvPr id="32" name="Google Shape;32;p8"/>
          <p:cNvSpPr/>
          <p:nvPr/>
        </p:nvSpPr>
        <p:spPr>
          <a:xfrm>
            <a:off x="6858000" y="6286500"/>
            <a:ext cx="1714500" cy="714375"/>
          </a:xfrm>
          <a:prstGeom prst="roundRect">
            <a:avLst>
              <a:gd fmla="val 10667" name="adj"/>
            </a:avLst>
          </a:prstGeom>
          <a:solidFill>
            <a:srgbClr val="E7DFF2"/>
          </a:solidFill>
          <a:ln cap="flat" cmpd="sng" w="12375">
            <a:solidFill>
              <a:srgbClr val="9BAFBD"/>
            </a:solidFill>
            <a:prstDash val="solid"/>
            <a:round/>
            <a:headEnd len="sm" w="sm" type="none"/>
            <a:tailEnd len="sm" w="sm" type="none"/>
          </a:ln>
        </p:spPr>
        <p:txBody>
          <a:bodyPr anchorCtr="0" anchor="ctr" bIns="66675" lIns="66675" spcFirstLastPara="1" rIns="66675" wrap="square" tIns="66675">
            <a:noAutofit/>
          </a:bodyPr>
          <a:lstStyle/>
          <a:p>
            <a:pPr indent="0" lvl="0" marL="0" marR="0" rtl="0" algn="ctr">
              <a:spcBef>
                <a:spcPts val="0"/>
              </a:spcBef>
              <a:spcAft>
                <a:spcPts val="0"/>
              </a:spcAft>
              <a:buNone/>
            </a:pPr>
            <a:r>
              <a:rPr b="1" lang="en-US" sz="1575">
                <a:solidFill>
                  <a:srgbClr val="102C46"/>
                </a:solidFill>
                <a:latin typeface="Verdana"/>
                <a:ea typeface="Verdana"/>
                <a:cs typeface="Verdana"/>
                <a:sym typeface="Verdana"/>
              </a:rPr>
              <a:t>Data Source</a:t>
            </a:r>
            <a:endParaRPr/>
          </a:p>
        </p:txBody>
      </p:sp>
      <p:sp>
        <p:nvSpPr>
          <p:cNvPr id="56" name="Google Shape;56;p8"/>
          <p:cNvSpPr/>
          <p:nvPr/>
        </p:nvSpPr>
        <p:spPr>
          <a:xfrm>
            <a:off x="6048338" y="4769650"/>
            <a:ext cx="619200" cy="266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350">
                <a:solidFill>
                  <a:srgbClr val="465B6C"/>
                </a:solidFill>
                <a:latin typeface="Verdana"/>
                <a:ea typeface="Verdana"/>
                <a:cs typeface="Verdana"/>
                <a:sym typeface="Verdana"/>
              </a:rPr>
              <a:t>has</a:t>
            </a:r>
            <a:endParaRPr/>
          </a:p>
        </p:txBody>
      </p:sp>
      <p:sp>
        <p:nvSpPr>
          <p:cNvPr id="57" name="Google Shape;57;p8"/>
          <p:cNvSpPr/>
          <p:nvPr/>
        </p:nvSpPr>
        <p:spPr>
          <a:xfrm>
            <a:off x="7715250" y="4172063"/>
            <a:ext cx="1143000" cy="257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350">
                <a:solidFill>
                  <a:srgbClr val="465B6C"/>
                </a:solidFill>
                <a:latin typeface="Verdana"/>
                <a:ea typeface="Verdana"/>
                <a:cs typeface="Verdana"/>
                <a:sym typeface="Verdana"/>
              </a:rPr>
              <a:t>identifies</a:t>
            </a:r>
            <a:endParaRPr/>
          </a:p>
        </p:txBody>
      </p:sp>
      <p:sp>
        <p:nvSpPr>
          <p:cNvPr id="58" name="Google Shape;58;p8"/>
          <p:cNvSpPr/>
          <p:nvPr/>
        </p:nvSpPr>
        <p:spPr>
          <a:xfrm>
            <a:off x="5114925" y="5724525"/>
            <a:ext cx="619125" cy="2571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350">
                <a:solidFill>
                  <a:srgbClr val="465B6C"/>
                </a:solidFill>
                <a:latin typeface="Verdana"/>
                <a:ea typeface="Verdana"/>
                <a:cs typeface="Verdana"/>
                <a:sym typeface="Verdana"/>
              </a:rPr>
              <a:t>has</a:t>
            </a:r>
            <a:endParaRPr/>
          </a:p>
        </p:txBody>
      </p:sp>
      <p:sp>
        <p:nvSpPr>
          <p:cNvPr id="59" name="Google Shape;59;p8"/>
          <p:cNvSpPr/>
          <p:nvPr/>
        </p:nvSpPr>
        <p:spPr>
          <a:xfrm>
            <a:off x="7829550" y="5772150"/>
            <a:ext cx="666750" cy="25717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275">
                <a:solidFill>
                  <a:srgbClr val="465B6C"/>
                </a:solidFill>
                <a:latin typeface="Verdana"/>
                <a:ea typeface="Verdana"/>
                <a:cs typeface="Verdana"/>
                <a:sym typeface="Verdana"/>
              </a:rPr>
              <a:t>source</a:t>
            </a:r>
            <a:endParaRPr/>
          </a:p>
        </p:txBody>
      </p:sp>
      <p:sp>
        <p:nvSpPr>
          <p:cNvPr id="60" name="Google Shape;60;p8"/>
          <p:cNvSpPr/>
          <p:nvPr/>
        </p:nvSpPr>
        <p:spPr>
          <a:xfrm>
            <a:off x="6057900" y="6367463"/>
            <a:ext cx="723900" cy="257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275">
                <a:solidFill>
                  <a:srgbClr val="465B6C"/>
                </a:solidFill>
                <a:latin typeface="Verdana"/>
                <a:ea typeface="Verdana"/>
                <a:cs typeface="Verdana"/>
                <a:sym typeface="Verdana"/>
              </a:rPr>
              <a:t>source</a:t>
            </a:r>
            <a:endParaRPr/>
          </a:p>
        </p:txBody>
      </p:sp>
      <p:sp>
        <p:nvSpPr>
          <p:cNvPr id="61" name="Google Shape;61;p8"/>
          <p:cNvSpPr/>
          <p:nvPr/>
        </p:nvSpPr>
        <p:spPr>
          <a:xfrm>
            <a:off x="9239250" y="6657975"/>
            <a:ext cx="1000200" cy="257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275">
                <a:solidFill>
                  <a:srgbClr val="465B6C"/>
                </a:solidFill>
                <a:latin typeface="Verdana"/>
                <a:ea typeface="Verdana"/>
                <a:cs typeface="Verdana"/>
                <a:sym typeface="Verdana"/>
              </a:rPr>
              <a:t>evidence</a:t>
            </a:r>
            <a:endParaRPr/>
          </a:p>
        </p:txBody>
      </p:sp>
      <p:sp>
        <p:nvSpPr>
          <p:cNvPr id="62" name="Google Shape;62;p8"/>
          <p:cNvSpPr/>
          <p:nvPr/>
        </p:nvSpPr>
        <p:spPr>
          <a:xfrm>
            <a:off x="4191000" y="7572375"/>
            <a:ext cx="6619875" cy="4095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275">
                <a:solidFill>
                  <a:srgbClr val="465B6C"/>
                </a:solidFill>
                <a:latin typeface="Verdana"/>
                <a:ea typeface="Verdana"/>
                <a:cs typeface="Verdana"/>
                <a:sym typeface="Verdana"/>
              </a:rPr>
              <a:t>Simplified draft. Sources also support kinship assertions.</a:t>
            </a:r>
            <a:endParaRPr sz="1275">
              <a:solidFill>
                <a:srgbClr val="465B6C"/>
              </a:solidFill>
              <a:latin typeface="Verdana"/>
              <a:ea typeface="Verdana"/>
              <a:cs typeface="Verdana"/>
              <a:sym typeface="Verdana"/>
            </a:endParaRPr>
          </a:p>
          <a:p>
            <a:pPr indent="0" lvl="0" marL="0" marR="0" rtl="0" algn="l">
              <a:spcBef>
                <a:spcPts val="0"/>
              </a:spcBef>
              <a:spcAft>
                <a:spcPts val="0"/>
              </a:spcAft>
              <a:buNone/>
            </a:pPr>
            <a:r>
              <a:rPr lang="en-US" sz="1275">
                <a:solidFill>
                  <a:srgbClr val="465B6C"/>
                </a:solidFill>
                <a:latin typeface="Verdana"/>
                <a:ea typeface="Verdana"/>
                <a:cs typeface="Verdana"/>
                <a:sym typeface="Verdana"/>
              </a:rPr>
              <a:t>Co-sighting associations require supporting sightings.</a:t>
            </a:r>
            <a:endParaRPr sz="1275">
              <a:solidFill>
                <a:srgbClr val="465B6C"/>
              </a:solidFill>
              <a:latin typeface="Verdana"/>
              <a:ea typeface="Verdana"/>
              <a:cs typeface="Verdana"/>
              <a:sym typeface="Verdana"/>
            </a:endParaRPr>
          </a:p>
        </p:txBody>
      </p:sp>
      <p:sp>
        <p:nvSpPr>
          <p:cNvPr id="63" name="Google Shape;63;p8"/>
          <p:cNvSpPr/>
          <p:nvPr/>
        </p:nvSpPr>
        <p:spPr>
          <a:xfrm>
            <a:off x="11239500" y="2476500"/>
            <a:ext cx="2343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102C46"/>
                </a:solidFill>
                <a:latin typeface="Verdana"/>
                <a:ea typeface="Verdana"/>
                <a:cs typeface="Verdana"/>
                <a:sym typeface="Verdana"/>
              </a:rPr>
              <a:t>Why it matters</a:t>
            </a:r>
            <a:endParaRPr sz="1800"/>
          </a:p>
        </p:txBody>
      </p:sp>
      <p:sp>
        <p:nvSpPr>
          <p:cNvPr id="64" name="Google Shape;64;p8"/>
          <p:cNvSpPr/>
          <p:nvPr/>
        </p:nvSpPr>
        <p:spPr>
          <a:xfrm>
            <a:off x="11239500" y="2990850"/>
            <a:ext cx="3612000" cy="121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725">
                <a:solidFill>
                  <a:srgbClr val="102C46"/>
                </a:solidFill>
                <a:latin typeface="Verdana"/>
                <a:ea typeface="Verdana"/>
                <a:cs typeface="Verdana"/>
                <a:sym typeface="Verdana"/>
              </a:rPr>
              <a:t>Researchers could explore family connections across records and check the evidence</a:t>
            </a:r>
            <a:endParaRPr/>
          </a:p>
        </p:txBody>
      </p:sp>
      <p:sp>
        <p:nvSpPr>
          <p:cNvPr id="65" name="Google Shape;65;p8"/>
          <p:cNvSpPr/>
          <p:nvPr/>
        </p:nvSpPr>
        <p:spPr>
          <a:xfrm>
            <a:off x="11239500" y="4515351"/>
            <a:ext cx="3524400" cy="362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102C46"/>
                </a:solidFill>
                <a:latin typeface="Verdana"/>
                <a:ea typeface="Verdana"/>
                <a:cs typeface="Verdana"/>
                <a:sym typeface="Verdana"/>
              </a:rPr>
              <a:t>Planned knowledge graph</a:t>
            </a:r>
            <a:endParaRPr sz="1800"/>
          </a:p>
        </p:txBody>
      </p:sp>
      <p:sp>
        <p:nvSpPr>
          <p:cNvPr id="66" name="Google Shape;66;p8"/>
          <p:cNvSpPr/>
          <p:nvPr/>
        </p:nvSpPr>
        <p:spPr>
          <a:xfrm>
            <a:off x="476250" y="8356934"/>
            <a:ext cx="10096500" cy="19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050">
                <a:solidFill>
                  <a:srgbClr val="465B6C"/>
                </a:solidFill>
                <a:latin typeface="Verdana"/>
                <a:ea typeface="Verdana"/>
                <a:cs typeface="Verdana"/>
                <a:sym typeface="Verdana"/>
              </a:rPr>
              <a:t>[1] CWR, Orca Identification.  [2] Thompson et al., Dryad (2026), doi:10.5061/dryad.gf1vhhn2f.  [3] The Whale Museum, supplied sighting records.</a:t>
            </a:r>
            <a:endParaRPr/>
          </a:p>
        </p:txBody>
      </p:sp>
      <p:sp>
        <p:nvSpPr>
          <p:cNvPr id="67" name="Google Shape;67;p8"/>
          <p:cNvSpPr/>
          <p:nvPr/>
        </p:nvSpPr>
        <p:spPr>
          <a:xfrm>
            <a:off x="12056650" y="8362950"/>
            <a:ext cx="2707200" cy="1716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lang="en-US" sz="1050">
                <a:solidFill>
                  <a:srgbClr val="247B73"/>
                </a:solidFill>
                <a:latin typeface="Verdana"/>
                <a:ea typeface="Verdana"/>
                <a:cs typeface="Verdana"/>
                <a:sym typeface="Verdana"/>
              </a:rPr>
              <a:t>github.com/CSC501-OrcaLink/orcalink</a:t>
            </a:r>
            <a:endParaRPr/>
          </a:p>
        </p:txBody>
      </p:sp>
      <p:pic>
        <p:nvPicPr>
          <p:cNvPr id="68" name="Google Shape;68;p8"/>
          <p:cNvPicPr preferRelativeResize="0"/>
          <p:nvPr/>
        </p:nvPicPr>
        <p:blipFill>
          <a:blip r:embed="rId3">
            <a:alphaModFix/>
          </a:blip>
          <a:stretch>
            <a:fillRect/>
          </a:stretch>
        </p:blipFill>
        <p:spPr>
          <a:xfrm>
            <a:off x="12896850" y="0"/>
            <a:ext cx="2343149" cy="2343149"/>
          </a:xfrm>
          <a:prstGeom prst="rect">
            <a:avLst/>
          </a:prstGeom>
          <a:noFill/>
          <a:ln>
            <a:noFill/>
          </a:ln>
        </p:spPr>
      </p:pic>
      <p:cxnSp>
        <p:nvCxnSpPr>
          <p:cNvPr id="69" name="Google Shape;69;p8"/>
          <p:cNvCxnSpPr/>
          <p:nvPr/>
        </p:nvCxnSpPr>
        <p:spPr>
          <a:xfrm>
            <a:off x="8477250" y="3782248"/>
            <a:ext cx="789900" cy="0"/>
          </a:xfrm>
          <a:prstGeom prst="straightConnector1">
            <a:avLst/>
          </a:prstGeom>
          <a:noFill/>
          <a:ln cap="flat" cmpd="sng" w="19050">
            <a:solidFill>
              <a:srgbClr val="526978"/>
            </a:solidFill>
            <a:prstDash val="solid"/>
            <a:round/>
            <a:headEnd len="sm" w="sm" type="none"/>
            <a:tailEnd len="sm" w="sm" type="none"/>
          </a:ln>
        </p:spPr>
      </p:cxnSp>
      <p:cxnSp>
        <p:nvCxnSpPr>
          <p:cNvPr id="70" name="Google Shape;70;p8"/>
          <p:cNvCxnSpPr/>
          <p:nvPr/>
        </p:nvCxnSpPr>
        <p:spPr>
          <a:xfrm>
            <a:off x="5858325" y="3416425"/>
            <a:ext cx="1103100" cy="0"/>
          </a:xfrm>
          <a:prstGeom prst="straightConnector1">
            <a:avLst/>
          </a:prstGeom>
          <a:noFill/>
          <a:ln cap="flat" cmpd="sng" w="19050">
            <a:solidFill>
              <a:srgbClr val="526978"/>
            </a:solidFill>
            <a:prstDash val="solid"/>
            <a:round/>
            <a:headEnd len="sm" w="sm" type="none"/>
            <a:tailEnd len="sm" w="sm" type="none"/>
          </a:ln>
        </p:spPr>
      </p:cxnSp>
      <p:cxnSp>
        <p:nvCxnSpPr>
          <p:cNvPr id="71" name="Google Shape;71;p8"/>
          <p:cNvCxnSpPr/>
          <p:nvPr/>
        </p:nvCxnSpPr>
        <p:spPr>
          <a:xfrm>
            <a:off x="5856100" y="3765442"/>
            <a:ext cx="1105500" cy="0"/>
          </a:xfrm>
          <a:prstGeom prst="straightConnector1">
            <a:avLst/>
          </a:prstGeom>
          <a:noFill/>
          <a:ln cap="flat" cmpd="sng" w="19050">
            <a:solidFill>
              <a:srgbClr val="526978"/>
            </a:solidFill>
            <a:prstDash val="solid"/>
            <a:round/>
            <a:headEnd len="sm" w="sm" type="none"/>
            <a:tailEnd len="sm" w="sm" type="none"/>
          </a:ln>
        </p:spPr>
      </p:cxnSp>
      <p:sp>
        <p:nvSpPr>
          <p:cNvPr id="72" name="Google Shape;72;p8"/>
          <p:cNvSpPr/>
          <p:nvPr/>
        </p:nvSpPr>
        <p:spPr>
          <a:xfrm>
            <a:off x="6043615" y="3174933"/>
            <a:ext cx="723900" cy="266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1350">
                <a:solidFill>
                  <a:srgbClr val="465B6C"/>
                </a:solidFill>
                <a:latin typeface="Verdana"/>
                <a:ea typeface="Verdana"/>
                <a:cs typeface="Verdana"/>
                <a:sym typeface="Verdana"/>
              </a:rPr>
              <a:t>subject</a:t>
            </a:r>
            <a:endParaRPr/>
          </a:p>
        </p:txBody>
      </p:sp>
      <p:sp>
        <p:nvSpPr>
          <p:cNvPr id="73" name="Google Shape;73;p8"/>
          <p:cNvSpPr/>
          <p:nvPr/>
        </p:nvSpPr>
        <p:spPr>
          <a:xfrm>
            <a:off x="6043602" y="3494550"/>
            <a:ext cx="723900" cy="266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1350">
                <a:solidFill>
                  <a:srgbClr val="465B6C"/>
                </a:solidFill>
                <a:latin typeface="Verdana"/>
                <a:ea typeface="Verdana"/>
                <a:cs typeface="Verdana"/>
                <a:sym typeface="Verdana"/>
              </a:rPr>
              <a:t>relative</a:t>
            </a:r>
            <a:endParaRPr/>
          </a:p>
        </p:txBody>
      </p:sp>
      <p:cxnSp>
        <p:nvCxnSpPr>
          <p:cNvPr id="74" name="Google Shape;74;p8"/>
          <p:cNvCxnSpPr>
            <a:endCxn id="33" idx="0"/>
          </p:cNvCxnSpPr>
          <p:nvPr/>
        </p:nvCxnSpPr>
        <p:spPr>
          <a:xfrm>
            <a:off x="10072377" y="2979150"/>
            <a:ext cx="0" cy="316500"/>
          </a:xfrm>
          <a:prstGeom prst="straightConnector1">
            <a:avLst/>
          </a:prstGeom>
          <a:noFill/>
          <a:ln cap="flat" cmpd="sng" w="19050">
            <a:solidFill>
              <a:srgbClr val="526978"/>
            </a:solidFill>
            <a:prstDash val="solid"/>
            <a:round/>
            <a:headEnd len="sm" w="sm" type="none"/>
            <a:tailEnd len="sm" w="sm" type="none"/>
          </a:ln>
        </p:spPr>
      </p:cxnSp>
      <p:cxnSp>
        <p:nvCxnSpPr>
          <p:cNvPr id="75" name="Google Shape;75;p8"/>
          <p:cNvCxnSpPr/>
          <p:nvPr/>
        </p:nvCxnSpPr>
        <p:spPr>
          <a:xfrm>
            <a:off x="5025925" y="2980050"/>
            <a:ext cx="5031300" cy="0"/>
          </a:xfrm>
          <a:prstGeom prst="straightConnector1">
            <a:avLst/>
          </a:prstGeom>
          <a:noFill/>
          <a:ln cap="flat" cmpd="sng" w="19050">
            <a:solidFill>
              <a:srgbClr val="526978"/>
            </a:solidFill>
            <a:prstDash val="solid"/>
            <a:round/>
            <a:headEnd len="sm" w="sm" type="none"/>
            <a:tailEnd len="sm" w="sm" type="none"/>
          </a:ln>
        </p:spPr>
      </p:cxnSp>
      <p:cxnSp>
        <p:nvCxnSpPr>
          <p:cNvPr id="76" name="Google Shape;76;p8"/>
          <p:cNvCxnSpPr>
            <a:endCxn id="55" idx="0"/>
          </p:cNvCxnSpPr>
          <p:nvPr/>
        </p:nvCxnSpPr>
        <p:spPr>
          <a:xfrm>
            <a:off x="5024400" y="2970750"/>
            <a:ext cx="0" cy="324900"/>
          </a:xfrm>
          <a:prstGeom prst="straightConnector1">
            <a:avLst/>
          </a:prstGeom>
          <a:noFill/>
          <a:ln cap="flat" cmpd="sng" w="19050">
            <a:solidFill>
              <a:srgbClr val="526978"/>
            </a:solidFill>
            <a:prstDash val="solid"/>
            <a:round/>
            <a:headEnd len="sm" w="sm" type="none"/>
            <a:tailEnd len="sm" w="sm" type="none"/>
          </a:ln>
        </p:spPr>
      </p:cxnSp>
      <p:sp>
        <p:nvSpPr>
          <p:cNvPr id="77" name="Google Shape;77;p8"/>
          <p:cNvSpPr/>
          <p:nvPr/>
        </p:nvSpPr>
        <p:spPr>
          <a:xfrm>
            <a:off x="7886723" y="2743225"/>
            <a:ext cx="2303700" cy="266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1350">
                <a:solidFill>
                  <a:srgbClr val="247B73"/>
                </a:solidFill>
                <a:latin typeface="Verdana"/>
                <a:ea typeface="Verdana"/>
                <a:cs typeface="Verdana"/>
                <a:sym typeface="Verdana"/>
              </a:rPr>
              <a:t>supported by sightings</a:t>
            </a:r>
            <a:endParaRPr>
              <a:solidFill>
                <a:srgbClr val="247B73"/>
              </a:solidFill>
            </a:endParaRPr>
          </a:p>
        </p:txBody>
      </p:sp>
      <p:sp>
        <p:nvSpPr>
          <p:cNvPr id="78" name="Google Shape;78;p8"/>
          <p:cNvSpPr/>
          <p:nvPr/>
        </p:nvSpPr>
        <p:spPr>
          <a:xfrm>
            <a:off x="8508090" y="3186533"/>
            <a:ext cx="723900" cy="266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1350">
                <a:solidFill>
                  <a:srgbClr val="465B6C"/>
                </a:solidFill>
                <a:latin typeface="Verdana"/>
                <a:ea typeface="Verdana"/>
                <a:cs typeface="Verdana"/>
                <a:sym typeface="Verdana"/>
              </a:rPr>
              <a:t>whale A</a:t>
            </a:r>
            <a:endParaRPr/>
          </a:p>
        </p:txBody>
      </p:sp>
      <p:sp>
        <p:nvSpPr>
          <p:cNvPr id="79" name="Google Shape;79;p8"/>
          <p:cNvSpPr/>
          <p:nvPr/>
        </p:nvSpPr>
        <p:spPr>
          <a:xfrm>
            <a:off x="8508077" y="3526463"/>
            <a:ext cx="723900" cy="266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1350">
                <a:solidFill>
                  <a:srgbClr val="465B6C"/>
                </a:solidFill>
                <a:latin typeface="Verdana"/>
                <a:ea typeface="Verdana"/>
                <a:cs typeface="Verdana"/>
                <a:sym typeface="Verdana"/>
              </a:rPr>
              <a:t>whale B</a:t>
            </a:r>
            <a:endParaRPr/>
          </a:p>
        </p:txBody>
      </p:sp>
      <p:pic>
        <p:nvPicPr>
          <p:cNvPr id="80" name="Google Shape;80;p8"/>
          <p:cNvPicPr preferRelativeResize="0"/>
          <p:nvPr/>
        </p:nvPicPr>
        <p:blipFill rotWithShape="1">
          <a:blip r:embed="rId4">
            <a:alphaModFix/>
          </a:blip>
          <a:srcRect b="66667" l="0" r="0" t="0"/>
          <a:stretch/>
        </p:blipFill>
        <p:spPr>
          <a:xfrm>
            <a:off x="468775" y="3263821"/>
            <a:ext cx="2147732" cy="828599"/>
          </a:xfrm>
          <a:prstGeom prst="rect">
            <a:avLst/>
          </a:prstGeom>
          <a:noFill/>
          <a:ln>
            <a:noFill/>
          </a:ln>
        </p:spPr>
      </p:pic>
      <p:pic>
        <p:nvPicPr>
          <p:cNvPr id="81" name="Google Shape;81;p8"/>
          <p:cNvPicPr preferRelativeResize="0"/>
          <p:nvPr/>
        </p:nvPicPr>
        <p:blipFill rotWithShape="1">
          <a:blip r:embed="rId4">
            <a:alphaModFix/>
          </a:blip>
          <a:srcRect b="33331" l="0" r="0" t="33334"/>
          <a:stretch/>
        </p:blipFill>
        <p:spPr>
          <a:xfrm>
            <a:off x="499800" y="4518649"/>
            <a:ext cx="2147725" cy="828599"/>
          </a:xfrm>
          <a:prstGeom prst="rect">
            <a:avLst/>
          </a:prstGeom>
          <a:noFill/>
          <a:ln>
            <a:noFill/>
          </a:ln>
        </p:spPr>
      </p:pic>
      <p:pic>
        <p:nvPicPr>
          <p:cNvPr id="82" name="Google Shape;82;p8"/>
          <p:cNvPicPr preferRelativeResize="0"/>
          <p:nvPr/>
        </p:nvPicPr>
        <p:blipFill rotWithShape="1">
          <a:blip r:embed="rId4">
            <a:alphaModFix/>
          </a:blip>
          <a:srcRect b="0" l="0" r="0" t="66667"/>
          <a:stretch/>
        </p:blipFill>
        <p:spPr>
          <a:xfrm>
            <a:off x="499800" y="5711750"/>
            <a:ext cx="2147732" cy="828599"/>
          </a:xfrm>
          <a:prstGeom prst="rect">
            <a:avLst/>
          </a:prstGeom>
          <a:noFill/>
          <a:ln>
            <a:noFill/>
          </a:ln>
        </p:spPr>
      </p:pic>
      <p:cxnSp>
        <p:nvCxnSpPr>
          <p:cNvPr id="83" name="Google Shape;83;p8"/>
          <p:cNvCxnSpPr>
            <a:stCxn id="84" idx="2"/>
            <a:endCxn id="85" idx="0"/>
          </p:cNvCxnSpPr>
          <p:nvPr/>
        </p:nvCxnSpPr>
        <p:spPr>
          <a:xfrm>
            <a:off x="14001510" y="5880000"/>
            <a:ext cx="0" cy="899100"/>
          </a:xfrm>
          <a:prstGeom prst="straightConnector1">
            <a:avLst/>
          </a:prstGeom>
          <a:noFill/>
          <a:ln cap="flat" cmpd="sng" w="26725">
            <a:solidFill>
              <a:srgbClr val="617A8A"/>
            </a:solidFill>
            <a:prstDash val="solid"/>
            <a:round/>
            <a:headEnd len="sm" w="sm" type="none"/>
            <a:tailEnd len="sm" w="sm" type="none"/>
          </a:ln>
        </p:spPr>
      </p:cxnSp>
      <p:cxnSp>
        <p:nvCxnSpPr>
          <p:cNvPr id="86" name="Google Shape;86;p8"/>
          <p:cNvCxnSpPr>
            <a:stCxn id="87" idx="3"/>
            <a:endCxn id="84" idx="1"/>
          </p:cNvCxnSpPr>
          <p:nvPr/>
        </p:nvCxnSpPr>
        <p:spPr>
          <a:xfrm>
            <a:off x="12518807" y="5454600"/>
            <a:ext cx="802200" cy="0"/>
          </a:xfrm>
          <a:prstGeom prst="straightConnector1">
            <a:avLst/>
          </a:prstGeom>
          <a:noFill/>
          <a:ln cap="flat" cmpd="sng" w="26725">
            <a:solidFill>
              <a:srgbClr val="617A8A"/>
            </a:solidFill>
            <a:prstDash val="solid"/>
            <a:round/>
            <a:headEnd len="sm" w="sm" type="none"/>
            <a:tailEnd len="sm" w="sm" type="none"/>
          </a:ln>
        </p:spPr>
      </p:cxnSp>
      <p:sp>
        <p:nvSpPr>
          <p:cNvPr id="87" name="Google Shape;87;p8"/>
          <p:cNvSpPr/>
          <p:nvPr/>
        </p:nvSpPr>
        <p:spPr>
          <a:xfrm>
            <a:off x="11157707" y="5029200"/>
            <a:ext cx="1361100" cy="850800"/>
          </a:xfrm>
          <a:prstGeom prst="roundRect">
            <a:avLst>
              <a:gd fmla="val 11429" name="adj"/>
            </a:avLst>
          </a:prstGeom>
          <a:solidFill>
            <a:srgbClr val="E1ECD9"/>
          </a:solidFill>
          <a:ln cap="flat" cmpd="sng" w="15800">
            <a:solidFill>
              <a:srgbClr val="9BB1C1"/>
            </a:solidFill>
            <a:prstDash val="solid"/>
            <a:round/>
            <a:headEnd len="sm" w="sm" type="none"/>
            <a:tailEnd len="sm" w="sm" type="none"/>
          </a:ln>
        </p:spPr>
        <p:txBody>
          <a:bodyPr anchorCtr="0" anchor="ctr" bIns="85075" lIns="85075" spcFirstLastPara="1" rIns="85075" wrap="square" tIns="85075">
            <a:noAutofit/>
          </a:bodyPr>
          <a:lstStyle/>
          <a:p>
            <a:pPr indent="0" lvl="0" marL="0" marR="0" rtl="0" algn="ctr">
              <a:spcBef>
                <a:spcPts val="0"/>
              </a:spcBef>
              <a:spcAft>
                <a:spcPts val="0"/>
              </a:spcAft>
              <a:buNone/>
            </a:pPr>
            <a:r>
              <a:rPr b="1" lang="en-US" sz="2105">
                <a:solidFill>
                  <a:srgbClr val="102C46"/>
                </a:solidFill>
                <a:latin typeface="Verdana"/>
                <a:ea typeface="Verdana"/>
                <a:cs typeface="Verdana"/>
                <a:sym typeface="Verdana"/>
              </a:rPr>
              <a:t>Whale</a:t>
            </a:r>
            <a:endParaRPr sz="1786"/>
          </a:p>
          <a:p>
            <a:pPr indent="0" lvl="0" marL="0" marR="0" rtl="0" algn="ctr">
              <a:spcBef>
                <a:spcPts val="0"/>
              </a:spcBef>
              <a:spcAft>
                <a:spcPts val="0"/>
              </a:spcAft>
              <a:buNone/>
            </a:pPr>
            <a:r>
              <a:rPr b="1" lang="en-US" sz="2105">
                <a:solidFill>
                  <a:srgbClr val="102C46"/>
                </a:solidFill>
                <a:latin typeface="Verdana"/>
                <a:ea typeface="Verdana"/>
                <a:cs typeface="Verdana"/>
                <a:sym typeface="Verdana"/>
              </a:rPr>
              <a:t>A</a:t>
            </a:r>
            <a:endParaRPr sz="1786"/>
          </a:p>
        </p:txBody>
      </p:sp>
      <p:sp>
        <p:nvSpPr>
          <p:cNvPr id="84" name="Google Shape;84;p8"/>
          <p:cNvSpPr/>
          <p:nvPr/>
        </p:nvSpPr>
        <p:spPr>
          <a:xfrm>
            <a:off x="13320960" y="5029200"/>
            <a:ext cx="1361100" cy="850800"/>
          </a:xfrm>
          <a:prstGeom prst="roundRect">
            <a:avLst>
              <a:gd fmla="val 11429" name="adj"/>
            </a:avLst>
          </a:prstGeom>
          <a:solidFill>
            <a:srgbClr val="E1ECD9"/>
          </a:solidFill>
          <a:ln cap="flat" cmpd="sng" w="15800">
            <a:solidFill>
              <a:srgbClr val="9BB1C1"/>
            </a:solidFill>
            <a:prstDash val="solid"/>
            <a:round/>
            <a:headEnd len="sm" w="sm" type="none"/>
            <a:tailEnd len="sm" w="sm" type="none"/>
          </a:ln>
        </p:spPr>
        <p:txBody>
          <a:bodyPr anchorCtr="0" anchor="ctr" bIns="85075" lIns="85075" spcFirstLastPara="1" rIns="85075" wrap="square" tIns="85075">
            <a:noAutofit/>
          </a:bodyPr>
          <a:lstStyle/>
          <a:p>
            <a:pPr indent="0" lvl="0" marL="0" marR="0" rtl="0" algn="ctr">
              <a:spcBef>
                <a:spcPts val="0"/>
              </a:spcBef>
              <a:spcAft>
                <a:spcPts val="0"/>
              </a:spcAft>
              <a:buNone/>
            </a:pPr>
            <a:r>
              <a:rPr b="1" lang="en-US" sz="2105">
                <a:solidFill>
                  <a:srgbClr val="102C46"/>
                </a:solidFill>
                <a:latin typeface="Verdana"/>
                <a:ea typeface="Verdana"/>
                <a:cs typeface="Verdana"/>
                <a:sym typeface="Verdana"/>
              </a:rPr>
              <a:t>Whale</a:t>
            </a:r>
            <a:endParaRPr sz="1786"/>
          </a:p>
          <a:p>
            <a:pPr indent="0" lvl="0" marL="0" marR="0" rtl="0" algn="ctr">
              <a:spcBef>
                <a:spcPts val="0"/>
              </a:spcBef>
              <a:spcAft>
                <a:spcPts val="0"/>
              </a:spcAft>
              <a:buNone/>
            </a:pPr>
            <a:r>
              <a:rPr b="1" lang="en-US" sz="2105">
                <a:solidFill>
                  <a:srgbClr val="102C46"/>
                </a:solidFill>
                <a:latin typeface="Verdana"/>
                <a:ea typeface="Verdana"/>
                <a:cs typeface="Verdana"/>
                <a:sym typeface="Verdana"/>
              </a:rPr>
              <a:t>B</a:t>
            </a:r>
            <a:endParaRPr sz="1786"/>
          </a:p>
        </p:txBody>
      </p:sp>
      <p:sp>
        <p:nvSpPr>
          <p:cNvPr id="85" name="Google Shape;85;p8"/>
          <p:cNvSpPr/>
          <p:nvPr/>
        </p:nvSpPr>
        <p:spPr>
          <a:xfrm>
            <a:off x="13320960" y="6779247"/>
            <a:ext cx="1361100" cy="850800"/>
          </a:xfrm>
          <a:prstGeom prst="roundRect">
            <a:avLst>
              <a:gd fmla="val 11429" name="adj"/>
            </a:avLst>
          </a:prstGeom>
          <a:solidFill>
            <a:srgbClr val="E1ECD9"/>
          </a:solidFill>
          <a:ln cap="flat" cmpd="sng" w="15800">
            <a:solidFill>
              <a:srgbClr val="9BB1C1"/>
            </a:solidFill>
            <a:prstDash val="solid"/>
            <a:round/>
            <a:headEnd len="sm" w="sm" type="none"/>
            <a:tailEnd len="sm" w="sm" type="none"/>
          </a:ln>
        </p:spPr>
        <p:txBody>
          <a:bodyPr anchorCtr="0" anchor="ctr" bIns="85075" lIns="85075" spcFirstLastPara="1" rIns="85075" wrap="square" tIns="85075">
            <a:noAutofit/>
          </a:bodyPr>
          <a:lstStyle/>
          <a:p>
            <a:pPr indent="0" lvl="0" marL="0" marR="0" rtl="0" algn="ctr">
              <a:spcBef>
                <a:spcPts val="0"/>
              </a:spcBef>
              <a:spcAft>
                <a:spcPts val="0"/>
              </a:spcAft>
              <a:buNone/>
            </a:pPr>
            <a:r>
              <a:rPr b="1" lang="en-US" sz="2105">
                <a:solidFill>
                  <a:srgbClr val="102C46"/>
                </a:solidFill>
                <a:latin typeface="Verdana"/>
                <a:ea typeface="Verdana"/>
                <a:cs typeface="Verdana"/>
                <a:sym typeface="Verdana"/>
              </a:rPr>
              <a:t>Whale</a:t>
            </a:r>
            <a:endParaRPr sz="1786"/>
          </a:p>
          <a:p>
            <a:pPr indent="0" lvl="0" marL="0" marR="0" rtl="0" algn="ctr">
              <a:spcBef>
                <a:spcPts val="0"/>
              </a:spcBef>
              <a:spcAft>
                <a:spcPts val="0"/>
              </a:spcAft>
              <a:buNone/>
            </a:pPr>
            <a:r>
              <a:rPr b="1" lang="en-US" sz="2105">
                <a:solidFill>
                  <a:srgbClr val="102C46"/>
                </a:solidFill>
                <a:latin typeface="Verdana"/>
                <a:ea typeface="Verdana"/>
                <a:cs typeface="Verdana"/>
                <a:sym typeface="Verdana"/>
              </a:rPr>
              <a:t>C</a:t>
            </a:r>
            <a:endParaRPr sz="1786"/>
          </a:p>
        </p:txBody>
      </p:sp>
      <p:sp>
        <p:nvSpPr>
          <p:cNvPr id="88" name="Google Shape;88;p8"/>
          <p:cNvSpPr/>
          <p:nvPr/>
        </p:nvSpPr>
        <p:spPr>
          <a:xfrm>
            <a:off x="12543161" y="5129221"/>
            <a:ext cx="753600" cy="2793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lang="en-US" sz="1531">
                <a:solidFill>
                  <a:srgbClr val="526779"/>
                </a:solidFill>
                <a:latin typeface="Verdana"/>
                <a:ea typeface="Verdana"/>
                <a:cs typeface="Verdana"/>
                <a:sym typeface="Verdana"/>
              </a:rPr>
              <a:t>kinship</a:t>
            </a:r>
            <a:endParaRPr sz="1786"/>
          </a:p>
        </p:txBody>
      </p:sp>
      <p:sp>
        <p:nvSpPr>
          <p:cNvPr id="89" name="Google Shape;89;p8"/>
          <p:cNvSpPr/>
          <p:nvPr/>
        </p:nvSpPr>
        <p:spPr>
          <a:xfrm>
            <a:off x="12591773" y="6171592"/>
            <a:ext cx="1324800" cy="3039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lang="en-US" sz="1675">
                <a:solidFill>
                  <a:srgbClr val="526779"/>
                </a:solidFill>
                <a:latin typeface="Verdana"/>
                <a:ea typeface="Verdana"/>
                <a:cs typeface="Verdana"/>
                <a:sym typeface="Verdana"/>
              </a:rPr>
              <a:t>co-sighting</a:t>
            </a:r>
            <a:endParaRPr sz="1786"/>
          </a:p>
        </p:txBody>
      </p:sp>
      <p:sp>
        <p:nvSpPr>
          <p:cNvPr id="90" name="Google Shape;90;p8"/>
          <p:cNvSpPr/>
          <p:nvPr/>
        </p:nvSpPr>
        <p:spPr>
          <a:xfrm>
            <a:off x="11157707" y="6220204"/>
            <a:ext cx="1361100" cy="632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771">
                <a:solidFill>
                  <a:srgbClr val="177D80"/>
                </a:solidFill>
                <a:latin typeface="Verdana"/>
                <a:ea typeface="Verdana"/>
                <a:cs typeface="Verdana"/>
                <a:sym typeface="Verdana"/>
              </a:rPr>
              <a:t>A to C</a:t>
            </a:r>
            <a:endParaRPr sz="1786"/>
          </a:p>
          <a:p>
            <a:pPr indent="0" lvl="0" marL="0" marR="0" rtl="0" algn="l">
              <a:spcBef>
                <a:spcPts val="0"/>
              </a:spcBef>
              <a:spcAft>
                <a:spcPts val="0"/>
              </a:spcAft>
              <a:buNone/>
            </a:pPr>
            <a:r>
              <a:rPr b="0" lang="en-US" sz="1771">
                <a:solidFill>
                  <a:srgbClr val="177D80"/>
                </a:solidFill>
                <a:latin typeface="Verdana"/>
                <a:ea typeface="Verdana"/>
                <a:cs typeface="Verdana"/>
                <a:sym typeface="Verdana"/>
              </a:rPr>
              <a:t>through B</a:t>
            </a:r>
            <a:endParaRPr sz="1786"/>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